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定刻20:00ちょうどに開始。最初の30秒で着席特典を必ず言う）皆さん、こんばんは。3日間チャレンジ、いよいよ最終日です。今日も来ていただいて、本当にありがとうございます。まず最初に1個だけ。今日も着席特典があります。20:10までに入って、チャットにスタンプを1個送ってくれた方に、『ロープレ用ツール集』をお渡しします。決算書サンプル・質問カード・進め方シートの3点。今日の話とそのまま地続きで、社長に会いに行く時の道具になります。まだの方、いま送っちゃ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ちょっとだけ振り返らせてください。Day1は――社長が一番こわいのは赤字より『黒字なのに、お金が残らない』。そこを見抜いて『お金の残し方』を語れる人に、社長は心を開く。財務三表が“利益”と“現金”の2本で繋がってる、という話でした。Day2は――実際の決算書を『お金の地図』に置いて、4か所をこの順で読んで、どこからお金が漏れてるかを分析する。ここを練習しました。で、今日Day3。今日はね、その先をまるごとお見せします。テーマは――『初回面談から、契約まで』。社長に初めて会うところから、信頼を取って、保険の提案をして、最後に契約まで――この一本の流れを、今日で全部、頭に入れて帰ってもら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お渡しする『ロープレ用ツール集』、中身を先に見せときますね。①決算書サンプル、②質問カード（社長に刺さる質問の型）、③進め方シート（今日やる“面談から契約までの流れ”を1枚に）。これ持って社長のとこ行ったら、丸腰やないんですよ。今日はこの道具を前提に話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これが、今日の全体マップです。初回面談 → 信頼を取る → 課題を見つける → 保険を提案 → 契約。たった5ステップ。大事なのは順番です。いきなり保険の話はしません。先に“お金の残し方”で信頼を取って、課題を見つけて、その解決策として保険が出てくる。だから保険は“結果”として、最後に自然に決まる。今からこの5つを、ひとつずつ分解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まずSTEP1、初回面談。どう入るかです。ここでしくじる人、めっちゃ多い。理由はひとつ――いきなり保険の話をするからです。社長、保険屋が来た瞬間にシャッター下ろしますからね。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じゃあ最初の一言、何て言うか。これだけ覚えてください。『社長、御社のお金の“残り方”、一度いっしょに見てみませんか？』……保険の“ほ”の字も出てへんでしょ。社長からしたら『お金が残る話？ ちょっと聞こか』ってなる。Day1でやった『黒字なのに金が残らない』、社長も実は気になってるんですよ。だから、この一言が、面談の扉を開けます。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、面談で次にやるのが、決算書を見せてもらうこと。これも言い方があります。『お金の流れをちゃんと見るには、決算書が2期分あると見えるんです。次回までにご用意いただけますか？』――“2期分”がミソです。1期だけやと点、2期あると流れが見える。この預かり方のフレーズ、Day1の特典『決算書の“預かり方”フレーズ集』にも入れてあります。決算書さえ預かれたら、もう半分、相談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STEP2、信頼を取る。ここで使うのが、Day1とDay2でやったやつ全部です。お金の地図と、4か所の読み方。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預かった決算書を、Day2の型で読みます。①現金、②お金の地図、③借入と返済、④役員まわり。この4か所を順に見て、お金の漏れを拾う。サンプル建設さんなら――『利益は出てる。でも売掛が4千万外で寝てて、借入7千万の返済が利益から静かに出ていってる。だから現金が薄い』。これを社長に言い当て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すると社長、必ずこう言います。『なんで、うちの会社のこと、そんなん分かるん？』――この瞬間です。ここで、相談役のポジションが取れる。税理士さんも言うてくれへんかったことを、あなたが言い当てた。社長は『この人は分かってる』と。信頼が動いたんですよ。保険を一個も出さんと、ここまで来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ここから保険の“活用方法”を教える。売り込みでなく「道具の使い方」として）STEP3。信頼が取れて、課題（お金の漏れ）が見えた。ここで初めて提案です。ここからは、保険を『社長のお金を守る道具』として見てください。皆さんプロやけど、改めて“どの場面でどの保険が効くか”を、整理して持っときましょう。これが今日の学びの本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用①、事業保障。さっきの社長、もしものことがあったら、借入7千万は誰が返すんか。後継ぎの専務に、いきなりのしかかる。――ここを、事業保障の保険で埋める。社長に何かあっても、会社の資金が止まらん、借入も返せる。会社を守る保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用②、役員退職金。社長62歳、創業30年。退職金の準備が、保険積立金500万だけ。これ、全然足りません。退職金を保険で準備する。しかも――ここがプロの一手なんですけど、退職金を払う年は、会社の利益が下がる→自社株の評価も下がる。だから『退職金を出すタイミング』と『息子さんへ株を渡すタイミング』を合わせにいくと、社長の手取りも、承継の税負担も、両方効く。〔※功績倍率・退職所得は“目安・一般論”として。金額の断定はしない＝【要・税理士確認】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用③、納税資金。サンプル建設の自社株、ざっくり4千5百万。社長の手元に現金は無いのに、“株”という財産で税金がかかる。しかも会社の株は売って現金化できへん。――詰むんです。だから、保険金という“現金”で、相続や承継の納税資金を用意しておく。役員借入の2千万も、相続のとき額面で財産に乗りますから、その納税資金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活用④、福利厚生・人材。従業員18名。弔慰金や退職金の制度を保険で作ると、社員の定着にも効く。養老保険を使ったやり方（いわゆるハーフタックス）もあります。〔※要件・税務は“さわり”。詳細は【要・税理士確認】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、全部に共通する大事な話。保険の“節税”って、よう言いますけど――正確には節税やないんです。“課税の繰延べ”。いま損金で減った税金は、将来その保険を解約してお金を受け取るとき、雑収入として、まるっと戻ってくる。つまり、その戻ってくるお金を“何にぶつけるか”＝出口を、契約する前に決めてないと、ただの先送りで終わる。入口より、出口が命。これが言えるかどうかで、社長からの信頼が全然ちゃいます。〔※2019年通達の損金区分等は【要・税理士確認】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活用早見です。左がDay2で見つけた“お金の漏れ・課題”、右がそれに効く保険。漏れを見つけたら、この表で右を当てるだけ。これも特典に入れときます。（※この表は一般的な活用の整理。具体の設計・税務は【要・税理士確認】を必ず添える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個だけ、大事な約束。今の税金や保険の話は、ぜんぶ“一般論・情報提供”です。社長の個別の節税額をその場で断言したり、税理士さんの仕事に踏み込んだりはしません。『一般的にはこうですが、御社の数字次第なので、税理士さんと確認しましょう』――これを必ず添える。誠実さが、いちばんの武器です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STEP4、いよいよ契約まで。とはいえ、ここでも売り込みません。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番、もう一回。先に“お金が残る価値”を渡す。信頼が生まれる。課題を一緒に整理する。その解決策として、保険が必要なものとして出てくる。この順番やから、社長は『売られた』と思わへん。『自分に必要なもんを、一緒に見つけてくれた』になる。保険は、結果として決まる。ここが、ただの保険屋との決定的な違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もちろん、断られることもあります。定番が『保険はもう間に合ってる』。でもね、これ――保険を断ってるだけで、“お金の話”を断ってるんやないんです。だから、こう返す。『社長、保険を売りに来たんやないんです。お金が残る仕組みの話です。間に合ってるかどうかも含めて、一回いっしょに見ましょう』。――土俵を、保険から“お金の残し方”に戻す。これで会話が続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もう一個、よくあるやつ。社長に税金とか自社株のこと、突っ込まれて、分からへん。――そのときは、知ったかぶりしたらアカン。こう言う。『社長、それ大事な論点なんで、いい加減に答えたくないです。一回持ち帰って、ちゃんと詰めてお返しします。』これ、むしろ信頼される返し方です。で、その持ち帰った難所は――藤山が後ろでバックアップします。税理士・承継の専門家チームもおる。皆さんは前で相談役、難しいとこは後ろにプロ。この体制やから、怖がらず契約まで運べ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課題が見えて、解決策（保険）も納得した。最後は、そっと背中を押すだけ。『社長のお金と、ご家族と、会社を守るために、ここは早めに手を打っときましょう。』――煽らへんでええ。必要なもんやと、社長自身が分かってるから、自然に契約になる。これが、初回面談から契約までの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ここから通しデモ。社長役⇄相談役を演じ分ける。参加者には解かせない＝見て体感）ここまで5ステップ、バラバラに説明しました。最後に、全部つなげて、一本でやってみせます。藤山が相談役と社長役、両方やります。皆さんは『こういうテンポで、こう流れるんや』を、まるごと掴ん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（見る）……決算書、預かりました。地図に置きます。利益は出てる、でも現金は薄い。売掛40が寝て、借入70の返済が重い。よし、ここを聞こう。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社長役）（相談役）『社長、御社のお金の残り方、いっしょに見てみました。売上が立っても入金は2ヶ月先、その間の支払い、けっこうカツカツちゃいますか？』（社長役）『……正直、毎月ヒヤヒヤや』（相談役）『やっぱり。あと毎月の借入返済、利益から静かに出てます。これ決算書の利益には出てこーへんのです』（社長役）『え、そうなん。だから残らへんのか……あんた、なんで分かるん？』――はい、信頼、取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提案）『社長、お金が残る仕組みを整えましょう。それと、もし社長に何かあったら、この借入は専務さんにのしかかる。そこは会社を守る保険で埋めときましょう。退職金の準備も薄いんで、勇退の備えも、税金が軽くなるタイミングと合わせて。』――活用早見そのま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クロージング）『どれも、社長と会社とご家族を守るための話です。早めに手を打っときましょか。』（社長役）『……そやな。あんたに任せるわ。』――はい。保険、売り込んでないでしょ。お金の残し方から入って、信頼取って、課題に保険を当てて、結果として『任せるわ』。これが、初回面談から契約までの一本の流れです。（動作：デモを終えて「これ、皆さんもこの順でいけます」と橋渡し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ここは“壁で凹ませる”場ではない。藤山が“その先の深さ”を見せて、講座への自然な橋にする）……ただね、正直に言います。いま一本でスッとやってみせましたけど、自分でやろうとすると、その先がめちゃくちゃ奥深いんです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たとえば――退職金の出口設計、いくらまでが適正か（功績倍率の目安）。自社株の評価、純資産価額で含み益をどう見るか（控除や、※いま評価ルール自体が見直しの議論中だったり）。社長が一番知りたい『実態でうちの会社いくら残るんか（実態BS・清算BS）』。――このへんは、ちゃんと習わんと、絶対できません。〔※すべて“さわり”・断定しない・【要・税理士確認】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を独学で、ネットで断片的に拾って……っていうのが、いちばんしんどいルートです。でも、安心してください。今日の結論はこれです。入口の流れ（面談→契約）は、もうできる。深い難所は、一人でやらなくていい。――次のスライド、見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案内の前に到達点を確定。“3日間はそれ自体で完結”を明示）価格とか講座の前に、まずこれだけ。皆さんは、この3日間で、初回面談から契約までの“流れ”を、まるごと手に入れました。最初の一言が言える。決算書を預かれる。4か所を読んで漏れを言い当てられる。保険の活用早見も、反論対応も、難所の逃げ方も持ってる。――これ、月曜から動けます。今日ここで解散しても、皆さんは確実に前へ進んでます。3日間、ほんまにお疲れさま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……そのうえで、です。さっき見せた“その先の深さ”――出口設計、自社株、実態の数字。あれを独学で潰すと、めちゃくちゃ時間がかかる。〔藤山ヒアリング待ち：藤山自身が時間をかけて身につけた実感〕。その深い所をまとめて埋めて、実際の案件で“面談→契約の流れ”を回せるようにする――その最短ルートを、用意してます。押し売りやないです。さっき自分で『ここ要るな』と思った人にだけ、案内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身はこれ。今日見せた面談から契約までの流れを、毎週、実際の見込み先1社を題材にやり込む。漏れの見つけ方も、保険の出口も、断られたときの返しも、手が動くまで添削します。難しい案件は藤山に上げてくれたらバックアップ。3ヶ月で“契約まで運べる状態”に持っていきます。（動作：価格はスライドに出すが、次で口頭提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価格を、はっきり言います。3ヶ月集中で、30万円です。（動作：トーンを落として、ゆっくり。一度だけ提示して沈黙5〜8秒、埋めない）……高い、安い、どっちに感じました？ 藤山は、正直安いと思ってます。法人保険の契約、1件で受講料は回収できるんで。個人保険とは手数料の桁が違う。それより、独学で数年さまよう機会損失のほうが、よっぽど大きい。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進め方、3つだけ。煽りはしません。1つ。個別相談は“必須”やないです。お金の不安がなくて『やる』と決めた方は、今日このまま、その場で申し込み（決済）OK。チャットにリンク出します。2つ。迷ってる方・支払いの回数を相談したい方は、個別相談へ。無料です。カレンダー予約リンクからアポを。現在地とゴールを一緒に整理して、分割も相談しましょう。売り込みの場やないです。（※本気で“法人を柱に”したい方には、もう一段上の伴走プランの話も、個別相談でだけします）3つ。これ、誰でも入れるわけやないです。藤山が後ろでバックアップする以上、本気で“法人をやる”思いが揃ってる方だけと。3日間完走して課題も出してくれた皆さんは、もう本気度が伝わってます。だから完走者・課題提出者を優先で案内します。（※嘘の審査制＝思いが揃う人だけ。虚偽の不安は煽らない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値引きはしません。30万のまま。安売りすると講座の価値が安っぽくなるんで。その代わり、今日中に“やる”と決めた方には、特典をお付けします。〔特典名・内容＝要確認／例：業種別の“お金の地図”サンプル集＋『漏れ→保険活用』変換テンプレ〕。今日この場で決めた方限定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改めて。着席特典、20:10まで入ってスタンプの方に『ロープレ用ツール集』。さらに、社長への手土産になるやつ――補助金カレンダー、保険証券一覧表、セミナーの補完テキストも配ります。会いに行くとき、こういう“持っていけるもの”があると、めっちゃ話しやすいんですよ。今日の課題は1つ。個別相談のお申し込みです。やると決めた方は決済を、迷ってる方はカレンダーからアポ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日間、本当にお疲れさまでした。皆さんはもう、初回面談から契約まで、この流れで会いに行ける。難しいとこは、藤山がいます。一人でやらんで、ええんです。一緒に、法人の市場、獲りにいき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（動作：質疑へ。深い個別税務は「個別相談 or サブ公式LINEで」と受け、断定回答を避ける＝コンプラ。締めは前向きに）……じゃ、最後、質問ある方どうぞ。チャットでも、手を挙げてもらってもOKです。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申込・個別相談の予約リンクと、質疑用のサブ公式LINE、チャットに固定しときます。今日は本当にありがとうございました。フジヤマでした。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3017520"/>
            <a:ext cx="5852160" cy="5852160"/>
          </a:xfrm>
          <a:prstGeom prst="ellipse">
            <a:avLst/>
          </a:prstGeom>
          <a:noFill/>
          <a:ln w="3302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" y="1517904"/>
            <a:ext cx="502920" cy="411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00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保険営業から、社長の“相談役”へ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初回面談から“契約”まで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この流れで、会いに行ける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84632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3日間チャレンジ ／ Day3：CLOSE ― 初回面談から契約までの流れを、まるごと。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852160"/>
            <a:ext cx="2377440" cy="228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CEDC"/>
                </a:solidFill>
                <a:latin typeface="Noto Sans CJK JP"/>
                <a:ea typeface="Noto Sans CJK JP"/>
                <a:cs typeface="Noto Sans CJK JP"/>
              </a:rPr>
              <a:t>2026.7.18 (土) 20:00–21:00　／　ZOOMライブ配信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01 / 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3日間の地図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Day1 → Day2 → 今日は“面談から契約までの流れ”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05740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5740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276856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25856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057400"/>
            <a:ext cx="91531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Day1（なぜ）：社長が怖いのは赤字より“黒字なのに金が残らない”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それを見抜いて“お金の残し方”を語れる人に、社長は心を開く。三表は利益と現金の2本で繋がる。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11810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11810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337560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319272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118104"/>
            <a:ext cx="91531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Day2（読み方）：決算書を“お金の地図”に置き、4か所を順に読む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どこからお金が漏れてるかを分析する、を練習した。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17880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417880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61288" y="4398264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379976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11095" y="4178808"/>
            <a:ext cx="9153143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Day3（今日）：その先を“まるごと”見せる ―『初回面談から、契約まで』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初めて会う→信頼→保険提案→契約。この一本の流れを、今日で頭に入れて帰ってもらう。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02 / 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着席特典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着席特典：ロープレ用ツール集（面談〜契約で使う道具）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8521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91440" cy="35661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318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432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① 決算書サンプル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9194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70332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② 質問カード（社長に刺さる質問の型）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5206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6344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③ 進め方シート（面談→契約の流れを1枚に）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77440"/>
            <a:ext cx="4297680" cy="356616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7744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918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入室＋スタンプ 締切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49039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7492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チャットにスタンプを1個送るだけ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03 / 41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全体マップ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今日の全体マップ ― たった5ステップ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大事なのは順番。いきなり保険の話はしない。先に価値→信頼→課題、その解決策として保険が出てくる。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108960"/>
            <a:ext cx="3307080" cy="1394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23359"/>
            <a:ext cx="275844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初回面談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保険の話はしない。お金の“残り方”から入る。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0080" y="3108960"/>
            <a:ext cx="3307080" cy="1394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00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24399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4399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4399" y="4023359"/>
            <a:ext cx="275844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信頼を取る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お金の残し方を語る＝相談役。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1480" y="3108960"/>
            <a:ext cx="3307080" cy="1394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1480" y="310896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05800" y="341985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05800" y="340156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5800" y="4023359"/>
            <a:ext cx="275844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課題を見つける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4か所を読んで“漏れ”を言い当てる。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4777740"/>
            <a:ext cx="3307080" cy="1394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477774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3000" y="508863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50703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692140"/>
            <a:ext cx="275844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保険を提案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課題の解決策として、道具を当てる。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0080" y="4777740"/>
            <a:ext cx="3307080" cy="13944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0080" y="477774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24399" y="5088636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24399" y="50703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24399" y="5692140"/>
            <a:ext cx="2758440" cy="2514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契約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保険は“結果”として、最後に自然に決まる。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04 / 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STEP1 初回面談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STEP1 初回面談 ― どう“入る”か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ここでしくじる人が多い。理由はひとつ ―“いきなり保険の話をするから”。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05 / 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STEP1 初回面談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最初の一言 ―（保険の話は、しない）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10058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8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「社長、御社のお金の“残り方”、一度いっしょに見てみませんか？」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保険の“ほ”の字も出てへん。社長は『お金が残る話？ ちょっと聞こか』となる。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55263"/>
            <a:ext cx="10469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55263"/>
            <a:ext cx="82296" cy="10058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55263"/>
            <a:ext cx="990295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Day1の“黒字なのに金が残らない”を、社長も実は気にしている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だから、この一言が面談の扉を開ける。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06 / 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STEP1 初回面談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決算書を“預かる” ―「2期分あると、お金の流れが見えます」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10058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「お金の流れをちゃんと見るには、決算書が2期分あると見えるんです。ご用意いただけますか？」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“2期分”がミソ。1期だけやと点、2期あると“流れ”が見える。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55263"/>
            <a:ext cx="104698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55263"/>
            <a:ext cx="82296" cy="10058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55263"/>
            <a:ext cx="9902951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決算書さえ預かれたら、もう半分、相談役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この言い方は、Day1特典『決算書の“預かり方”フレーズ集』にも収録。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07 / 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STEP2 信頼を取る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STEP2 信頼を取る ―“お金の残し方”を語る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ここで使うのは、Day1の“お金の地図”と、Day2の“4か所の読み方”。全部です。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08 / 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STEP2 信頼を取る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4か所を読んで、社長の“お金の漏れ”を言い当てる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預かった決算書を、Day2の型で読む ― ①現金 → ②お金の地図/粗利 → ③借入と返済 → ④役員まわり。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34640"/>
            <a:ext cx="10469880" cy="688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34640"/>
            <a:ext cx="82296" cy="68808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34640"/>
            <a:ext cx="9902951" cy="6880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サンプル建設さんなら：「利益は出てる。でも――」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41598"/>
            <a:ext cx="10469880" cy="688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641598"/>
            <a:ext cx="82296" cy="68808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641598"/>
            <a:ext cx="9902951" cy="6880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“売掛が4千万”、お金が外で寝てる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48556"/>
            <a:ext cx="10469880" cy="688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448556"/>
            <a:ext cx="82296" cy="68808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448556"/>
            <a:ext cx="9902951" cy="6880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“借入7千万の返済”が、利益から静かに出ていってる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55514"/>
            <a:ext cx="10469880" cy="68808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255514"/>
            <a:ext cx="82296" cy="68808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255514"/>
            <a:ext cx="9902951" cy="68808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「だから現金が薄い」 ― これを、社長に言い当てる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09 / 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STEP2 信頼を取る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この一言が出たら ―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「なんで、うちのこと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そんなん分かるん？」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ここで、相談役のポジションが取れる。税理士も言うてくれへんかったことを、あなたが言い当てた。保険を一個も出さんと、ここまで来れる。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10 / 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STEP3 保険活用の提案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STEP3 保険活用の提案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保険は、社長のお金を“こう守る”道具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信頼が取れて、課題（お金の漏れ）が見えた。ここで初めて提案。“どの場面でどの保険が効くか”＝今日の学びの本体。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11 / 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活用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活用① 事業保障 ― 借入返済・社長万一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社長にもしものことがあったら、借入7千万は誰が返すのか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後継ぎの専務に、いきなりのしかかる。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そこを、事業保障の保険で埋める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社長に何かあっても、会社の資金が止まらん、借入も返せる。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＝“会社を守る”保険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12 / 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活用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4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活用② 役員退職金 ― 勇退の備え（＋出すタイミングで株価も）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社長62歳・創業30年。退職金の準備が、保険積立金500万だけ＝全然足りない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退職金を、保険で準備する。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プロの一手：退職金を払う年は、会社の利益が下がる → 自社株の評価も下がる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『退職金を出すタイミング』と『息子さんへ株を渡すタイミング』を合わせにいく。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※功績倍率・退職所得は“目安・一般論”として。金額の断定はしない。【要・税理士確認】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13 / 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活用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活用③ 納税資金 ― 相続・自社株を“現金”で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サンプル建設の自社株、ざっくり4千5百万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手元に現金は無いのに、“株”という財産で税金がかかる。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しかも会社の株は、売って現金化できない ＝“詰む”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だから、保険金という“現金”で、相続や承継の納税資金を用意しておく。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役員借入の2千万も、相続のとき額面で財産に乗る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その納税資金も。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14 / 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活用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活用④ 福利厚生・人材 ― 弔慰金・退職金で定着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従業員18名。弔慰金や退職金の制度を保険で作る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社員の定着にも効く。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養老保険を使ったやり方（いわゆるハーフタックス）もある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※要件・税務は“さわり”。詳細は【要・税理士確認】。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15 / 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出口設計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出口設計＝“課税の繰延べ” ― 節税でなく、出口が命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保険の“節税”は、正確には節税じゃない＝“課税の繰延べ”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損金で減った税金は、解約してお金を受け取るとき、雑収入としてまるっと戻ってくる。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戻ってくるお金を“何にぶつけるか”＝出口を、契約前に決めてないと、ただの先送り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入口より、出口が命。これが言えるかで、社長からの信頼が全然ちゃう。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※2019年通達の損金区分等は【要・税理士確認】。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16 / 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活用早見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保険“活用早見” ―「お金の漏れ・課題」→ どの保険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1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39742"/>
                <a:gridCol w="5992977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お金の漏れ・課題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保険の活用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社長に万一 → 借入返済・資金ストップ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事業保障保険（受取人・必要保障額を設計）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退職金の準備不足／株価対策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役員退職金（長期平準・逓増定期 等。勇退期に支給で利益圧縮）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相続・自社株の納税資金が無い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納税資金（保険金で現金確保。役員借入の整理も）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従業員の定着・福利厚生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養老保険（ハーフタックス）等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491947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※一般的な活用の整理。具体の設計・税務は【要・税理士確認】を必ず添える。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17 / 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STEP3 コンプラ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コンプラの線引き ―“情報提供”にとどめる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今の税金や保険の話は、ぜんぶ“一般論・情報提供”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個別の節税額を断言したり、税理士の仕事に踏み込んだりはしない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「一般的にはこうですが、御社の数字次第なので、税理士さんと確認しましょう」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これを必ず添える。誠実さが、いちばんの武器。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18 / 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STEP4 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STEP4 契約まで持っていく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売り込まず、必要なものとして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いよいよ契約まで。とはいえ、ここでも売り込みません。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19 / 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STEP4 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先に価値 → 信頼 → 課題を整理 → その解決策として、保険。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4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保険は、“結果”として決まる。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この順番やから、社長は『売られた』と思わへん。『自分に必要なもんを、一緒に見つけてくれた』になる。ただの保険屋との、決定的な違い。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20 / 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STEP4 反論対応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反論対応 ―「保険は間に合ってる」の正体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「保険はもう間に合ってる」＝保険を断ってるだけ。“お金の話”を断ってるんやない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返し方：「保険を売りに来たんやないんです。お金が残る仕組みの話です」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「間に合ってるかどうかも含めて、一回いっしょに見ましょう」。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土俵を、保険から“お金の残し方”に戻す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これで会話が続く。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21 / 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STEP4 難所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難しい質問は“持ち帰る” ＋ 藤山がバックアップ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税金・自社株を突っ込まれて分からない時、知ったかぶりはしない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「大事な論点なので、いい加減に答えたくない。一度持ち帰って、詰めてお返しします」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むしろ信頼される返し方。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持ち帰った難所は、藤山が後ろでバックアップ（税理士・承継チームも）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皆さんは前で相談役、難しいとこは後ろにプロ。だから怖がらず契約まで運べる。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22 / 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STEP4 クロージング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背中を押す ― 必要なものとして、契約へ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「社長のお金と、ご家族と、会社を守るために、ここは早めに手を打っときましょう」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煽らへんでええ。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5526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5526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55264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必要なもんやと、社長自身が分かってるから、自然に契約になる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これが、初回面談から契約までの流れ。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23 / 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通しデモ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では、藤山が“面談から契約まで”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一本で、やってみせます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5ステップを全部つなげて、一本で。相談役と社長役、両方を演じ分け。皆さんは“こういうテンポで流れるんや”を、まるごと掴んでください（解かなくてOK）。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24 / 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通しデモ ① 見る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デモ：見る ― お金の地図に置く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320百万円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2357437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23574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250百万円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872037"/>
            <a:ext cx="2103120" cy="660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872037"/>
            <a:ext cx="1956815" cy="660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  <a:p>
            <a:pPr algn="ctr"/>
            <a:r>
              <a:rPr sz="1250" b="0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70百万円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872037"/>
            <a:ext cx="2103120" cy="518636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872037"/>
            <a:ext cx="1956815" cy="518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  <a:r>
              <a:rPr sz="11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  55百万円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390673"/>
            <a:ext cx="2103120" cy="14144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244369"/>
            <a:ext cx="2194560" cy="434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  <a:r>
              <a:rPr sz="12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  15百万円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56114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25 / 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通しデモ ② 面談・信頼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デモ：面談・信頼（社長役つき寸劇）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声色を変えて、相談役⇄社長役。〔藤山ヒアリング待ち：実際に刺さった語り口・社長が動いた一言〕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606040"/>
            <a:ext cx="104698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606040"/>
            <a:ext cx="82296" cy="74980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2761488"/>
            <a:ext cx="438911" cy="438911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743200"/>
            <a:ext cx="438911" cy="438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606040"/>
            <a:ext cx="9189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相談役「社長、御社のお金の残り方、見てみました。売上が立っても入金は2ヶ月先、その間カツカツちゃいますか？」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465576"/>
            <a:ext cx="104698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465576"/>
            <a:ext cx="82296" cy="74980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3621024"/>
            <a:ext cx="438911" cy="438911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602736"/>
            <a:ext cx="438911" cy="438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65576"/>
            <a:ext cx="9189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社長「……正直、毎月ヒヤヒヤや」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325112"/>
            <a:ext cx="104698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325112"/>
            <a:ext cx="82296" cy="74980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1288" y="4480560"/>
            <a:ext cx="438911" cy="438911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462272"/>
            <a:ext cx="438911" cy="438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325112"/>
            <a:ext cx="9189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相談役「あと毎月の借入返済、利益から静かに出てます。これ決算書の利益には出てこーへんのです」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184648"/>
            <a:ext cx="10469880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184648"/>
            <a:ext cx="82296" cy="74980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1288" y="5340096"/>
            <a:ext cx="438911" cy="438911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321808"/>
            <a:ext cx="438911" cy="4389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5184648"/>
            <a:ext cx="9189719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3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社長「え、そうなん。だから残らへんのか……あんた、なんで分かるん？」← 信頼、取れました。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26 / 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通しデモ ③ 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デモ：課題 → 保険“活用”の提案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「お金が残る仕組みを整えましょう」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09544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09544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09544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「もし社長に何かあったら、この借入は専務さんにのしかかる。そこは“会社を守る保険”で埋めときましょう」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315968"/>
            <a:ext cx="1046988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315968"/>
            <a:ext cx="82296" cy="96012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315968"/>
            <a:ext cx="9902951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「退職金の準備も薄いんで、“勇退の備え”も、税金が軽くなるタイミングと合わせて」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＝活用早見そのまま。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27 / 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通しデモ ④ 契約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デモ：クロージング → 契約（“結果として”決まる）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相談役「どれも、社長と会社とご家族を守るための話です。早めに手を打っときましょか」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社長「……そやな。あんたに任せるわ」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保険、売り込んでないでしょ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お金の残し方から入って、信頼取って、課題に保険を当てて、結果として『任せるわ』。これが一本の流れ。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28 / 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その先の深さ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……ただし、自分でやろうとすると、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ここが“奥深い”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一本でスッとやってみせたけど、自分でやろうとすると、その先がめちゃくちゃ奥深い。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29 / 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その先の深さ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たとえば ― 出口設計・自社株・実態の数字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退職金の出口設計：いくらまでが適正か（功績倍率の目安）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自社株の評価：純資産価額で含み益をどう見るか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控除や、※いま評価ルール自体が見直しの議論中だったり。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社長が一番知りたい「実態でうちの会社いくら残るんか」（実態BS・清算BS）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このへんは、ちゃんと習わんと、絶対できません。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※すべて“さわり”・断定しない。【要・税理士確認】。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30 / 41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その先の深さ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独学はしんどい。でも、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“一人でやらなくていい”。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入口の流れ（面談→契約）は、もうできる。深い難所は、一人でやらなくていい。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31 / 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F 案内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価格や講座の前に、まずこれだけ。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皆さんはもう、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この流れで“会いに行ける”。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最初の一言が言える。決算書を預かれる。4か所を読んで漏れを言い当てられる。活用早見も、反論対応も、難所の逃げ方も持ってる。―― 月曜から動けます。今日ここで解散しても、確実に前へ。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32 / 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F 案内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そのうえで ― この流れを“最短”で身につけたい人へ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さっき見せた“その先の深さ”（出口設計・自社株・実態の数字）を独学で潰すと、時間がかかる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その深い所をまとめて埋めて、実際の案件で“面談→契約”を回せるようにする最短ルートを用意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押し売りやないです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さっき自分で『ここ要るな』と思った人にだけ、案内します。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33 / 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最短ルート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6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大吉塾｜FP法人会計マスターコース（30万円・3ヶ月集中）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965960"/>
          <a:ext cx="10332719" cy="32918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9852"/>
                <a:gridCol w="7852867"/>
              </a:tblGrid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項目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内容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期間・形態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3ヶ月集中（オンライン中心）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F1A33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価格</a:t>
                      </a:r>
                    </a:p>
                  </a:txBody>
                  <a:tcPr anchor="ctr" marL="109728" marR="109728" marT="36576" marB="36576">
                    <a:solidFill>
                      <a:srgbClr val="F4EB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30万円（仮：最終確認中）</a:t>
                      </a:r>
                    </a:p>
                  </a:txBody>
                  <a:tcPr anchor="ctr" marL="109728" marR="109728" marT="36576" marB="36576">
                    <a:solidFill>
                      <a:srgbClr val="F4EBD6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ゴール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3ヶ月で初商談〜初契約／中小の“身近な案件”中心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中身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お金の地図・決算書の読み方／保険の活用と出口設計／面談→契約の流れを実案件で・添削／相続・事業承継の基礎／法人開拓の営業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</a:tr>
              <a:tr h="5486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バックアップ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難所は藤山がバックアップ（受講者は流れの実践に集中）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34 / 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クロージング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価格を、はっきり言います。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43600" cy="21945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0" y="2468880"/>
            <a:ext cx="5943600" cy="10972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594360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3ヶ月集中</a:t>
            </a:r>
          </a:p>
          <a:p>
            <a:pPr algn="ctr"/>
            <a:r>
              <a:rPr sz="64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30万円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（ここで沈黙5〜8秒）… 高い？ 安い？ 藤山は“安い”と思っています。法人保険の契約1件で受講料は回収できる。独学で数年さまよう機会損失のほうが、よっぽど大きい。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35 / 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今日の進め方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今日の進め方 ― 3つだけ（誠実に）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個別相談は“必須”じゃない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『やる』と決めた方は、今日このまま、その場で申し込み（決済）OK。チャットにリンク。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00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00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4399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399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399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迷い・分割の相談は個別相談へ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無料・売り込まない。カレンダー予約から。（本気の柱志向には伴走プランの話も個別で）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14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誰でも入れるわけじゃない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本気で“法人をやる”思いが揃う方だけ。完走者・課題提出者を優先。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36 / 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締め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値引きはしない／今日決めた方へ、期限付き特典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値引きはしない（30万のまま）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安売りすると、講座の価値が安っぽくなる。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今日中に“やる”と決めた方には、特典をお付けする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〔特典名・内容＝要確認／例：業種別の“お金の地図”サンプル集＋『漏れ→保険活用』変換テンプレ〕。今日この場で決めた方限定。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37 / 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3 ・ 締め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 ＆ 手土産 ＆ 今日の課題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着席特典＝ロープレ用ツール集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20:10入室＋スタンプの方へ（決算書サンプル・質問カード・進め方シート）。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00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00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24399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4399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399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手土産＝社長に持っていけるもの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補助金カレンダー・保険証券一覧表・セミナー補完テキスト。会いに行く話のきっかけに。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1480" y="2331720"/>
            <a:ext cx="33070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1480" y="2331720"/>
            <a:ext cx="3307080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5800" y="2642615"/>
            <a:ext cx="457200" cy="457200"/>
          </a:xfrm>
          <a:prstGeom prst="ellipse">
            <a:avLst/>
          </a:prstGeom>
          <a:solidFill>
            <a:srgbClr val="F4E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5800" y="26243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A8843F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5800" y="3246120"/>
            <a:ext cx="27584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今日の課題＝個別相談のお申し込み</a:t>
            </a:r>
          </a:p>
          <a:p>
            <a:pPr algn="l">
              <a:lnSpc>
                <a:spcPct val="132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やると決めた方は決済を、迷ってる方はカレンダーからアポを。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3  —  38 / 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締め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3日間、本当にお疲れさまでした。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もう、この流れで会いに行ける。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難所は、藤山がいる。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一人でやらんで、ええんです。一緒に、法人の市場、獲りにいきましょう。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39 / 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質疑応答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質問ある方どうぞ。チャットでも、手を挙げてもらってもOKです。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40 / 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3 ・ 締め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ありがとうございました。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個別相談の予約リンク／質疑用サブ公式LINEは、チャットに固定します。― フジヤマでした。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3  —  41 / 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Day3 初回面談から“契約”まで ― この流れで、会いに行ける</dc:title>
  <dc:subject/>
  <dc:creator>大吉塾 / 藤山泰成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