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ご参加ありがとうございます。お約束のプレゼントです。テーマは“FPが法人で仕事を取れない理由”。取れる人と何が違うのかを、最後まで具体的にお見せします。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今日の流れを先に。3つの章でお話しします。①なぜ保険屋では選ばれないのか、②取れる人は何が違うのか、③では会計を武器にどう相談役になるか。順番に見ていきましょう。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まずは第1章。なぜ取れないのか。保険屋として行く限り門前払いされる、その理由から見ていきます。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こんなこと、ありませんか。社長に会えても、名刺を出して「保険屋さんか」と分かった瞬間、すっと話が終わる。多くのFPが、ここでつまずいています。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断り文句の定番がこの3つ。「保険は間に合ってる」「税理士に任せてる」「今は忙しい」。どれも本気の反論じゃなくて、“あなたに会う価値を感じていない”サインなんです。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もそも、保険を売る人は街にあふれてます。国内の生保募集人はざっと100万人超（※参考値・要裏取り）。社長から見れば、あなたも“その他大勢の保険屋”の一人。商品で差別化しようとしても埋もれる。選ばれる人は、保険以外の武器を持ってる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結論はシンプルで、「保険屋」として行くから門前払いされる。違いは“何を持って社長に会いに行くか”だけ。ここから、その武器の話をします。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法人かというと、単価の桁が違うから。個人は1件が年数万円〜、法人は年数百万円〜（※参考値）。手数料の桁も違う。だからみんな法人をやりたい。でも“会計が分かる人”だけが入れる世界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ここから第2章。同じ社長のところに、2人の保険マンが会いに行きました。一人は断られ、もう一人は頼られた。何が違ったのか、台詞で見ていきましょう。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取れない人です。一見すると“良い人”なんです。「事業承継の時期ですね」「承継か清算かM&amp;Aか」と振って、社長が「迷っている」と言うと、「保険を活用すると損を減らせます、株価対策や老後資金に使える保険をお伝えしますね」と。親切そうですよね。でも、社長の課題も、向かう方向も、“数字”も見る前に、“保険ありき”で入っている。社長の心の声は“結局、保険を売りたいだけか”。これが門前払いコー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一度、立ち止まりましょう。さきほどの人、悪い人ではないんです。むしろ親切。でも“保険ありき”で入る限り、何度社長のところへ行っても門前払いされ続けます。正直、このやり方のままでは、法人マーケットで生き抜くのは厳しい。では、どうするか。同じ社長に会った、もう一人を見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、取れる人です。同じ承継の話でも入り方が違います。「承継か清算かで打つ手は変わる」「今のBSだけだと株価対策が要るか分からない」「“承継した時”と“清算した時”のBSを並べて、現金の過不足を一緒に見ましょう」。すると社長は「そんな見方、今まで誰もしてくれなかった、ぜひお願いします」。保険を売り込まずに、数字で一緒に考える。だから頼られる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違いは才能でも、トークの上手さでもない。“保険”から入るか、“数字”から入るか。社長の数字を一緒に見られるか、それだけなんです。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取れる人の“見方”はこれです。社長の課題は、山ほどあります。売上・利益、資金繰り、税金、労務・人事、経営計画、マーケティング、そして事業承継・相続。そのどれもが、決算書の数字に表れます。取れる人は、この“課題”と“決算書”が連動しているか――社長の向かう方向と、数字がズレていないか――を見ます。承継や清算なら、実態BSや清算BSで“本当の数字”まで確かめる。BSを並べること自体が目的ではなく、課題と数字の連動を確かめる一過程です。ここを見られる人は、ほとんどいません。税や評価の具体は、税理士確認を添え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並べるとこうです。取れない人は保険の話から入り、商品をすぐ提案し、保険屋と見られて断られる。取れる人は数字から入り、課題を一緒に発見し、先生・相談役と見られて、次も呼ばれる。同じ訪問でも、立つ土俵が違うだけ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では第3章。会計を武器に、どう相談役になるか。相続・事業承継・会計が分かると何が起きるか、そして王道の流れを見ていきます。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じゃあ大きな契約はどこにあるか。事業承継と相続です。1件あたりの保険料は年数百万円規模も珍しくない（※参考値）。個人とは手数料の桁が変わる。そしてその入口は“会計”。数字が分かる人にだけ、社長は相談する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続が分かると、社長の家族の未来まで踏み込んで話せる。株・自宅・現金で詰む前に手を打てる。保険は結果として自然に出てくる。売り込まずに、頼られる。相続・税の具体は一般論にとどめ、個別は税理士へ、が大原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事業承継が分かると、誰にどう渡すかを一緒に描ける。自社株や納税という大型ニーズが見える。そして1社の信頼が、次の社長を連れてくる。個人契約とは桁が変わります。評価や税は断定せず、税理士確認を添え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そして会計が分かると、決算書を預かれる。面談の扉が開く。社長と数字で対等に話せて、お金の漏れを見つけられるから、提案が刺さる。会計は目的じゃなくて、社長に頼られるための武器なんです。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やることは、この王道の4ステップだけ。①決算書を預かる、②数字を起点にヒアリング、③お金の漏れと承継・相続の論点を課題分析、④その解決策として提案。保険は最後に“結果”で出てきます。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この流れが身につけば、“超売れる”FPになれます。保険を追いかけるのをやめて、社長の数字に向き合う。そうすれば契約は結果でついてくる。これが、取れる人のやり方です。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。今日のプレゼントは、ほんの入口です。これからも、“会計を武器に法人を開く”ための実践的な情報を、このオープンチャットで配信していきます。無料の3日間チャレンジのご案内も、この場で。見逃さないよう、通知をオンにしておいてください。今日は最後まで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3017520"/>
            <a:ext cx="5852160" cy="5852160"/>
          </a:xfrm>
          <a:prstGeom prst="ellipse">
            <a:avLst/>
          </a:prstGeom>
          <a:noFill/>
          <a:ln w="3302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" y="1517904"/>
            <a:ext cx="502920" cy="4114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007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FP専用オープンチャット ・ 参加御礼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0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FPが法人で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40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“仕事を取れない”理由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846320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取れる人と、何が違うのか。― 会計を武器に、社長の“相談役”へ。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5852160"/>
            <a:ext cx="2377440" cy="2286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CEDC"/>
                </a:solidFill>
                <a:latin typeface="Noto Sans CJK JP"/>
                <a:ea typeface="Noto Sans CJK JP"/>
                <a:cs typeface="Noto Sans CJK JP"/>
              </a:rPr>
              <a:t>ご参加ありがとうございます ／ お約束のプレゼント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CONTENTS ・ 3つの章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このプレゼントの、流れ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371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377440"/>
            <a:ext cx="8869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保険屋では、選ばれない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なぜ門前払いされるのか。ライバルの数と、法人の魅力。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10332720" cy="10972"/>
          </a:xfrm>
          <a:prstGeom prst="rect">
            <a:avLst/>
          </a:prstGeom>
          <a:solidFill>
            <a:srgbClr val="E2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1371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520440"/>
            <a:ext cx="8869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取れる人は、“数字”から入る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取れない人／取れる人の、決定的な違い。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663440"/>
            <a:ext cx="10332720" cy="10972"/>
          </a:xfrm>
          <a:prstGeom prst="rect">
            <a:avLst/>
          </a:prstGeom>
          <a:solidFill>
            <a:srgbClr val="E2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1371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663440"/>
            <a:ext cx="886968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会計を武器に、相談役へ</a:t>
            </a:r>
          </a:p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相続・事業承継・会計が分かると、王道の流れ。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0" y="731520"/>
            <a:ext cx="5303520" cy="5577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5000" b="1" i="0">
                <a:solidFill>
                  <a:srgbClr val="1B2A4A"/>
                </a:solidFill>
                <a:latin typeface="Noto Serif CJK JP"/>
                <a:ea typeface="Noto Serif CJK JP"/>
                <a:cs typeface="Noto Serif CJK JP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128016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70048"/>
            <a:ext cx="3291840" cy="2743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926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なぜ、取れないのか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46704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保険屋では、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選ばれない。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7492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社長に会えても、門前払い。― その理由から、見ていきます。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FP法人開拓 ・ 共感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いきなりですが、こんなこと、ありませんか？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名刺を出した瞬間、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社長の顔が、曇る。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「保険屋さんか」と分かったとたん、話が終わる。― 多くのFPが、ここでつまずきます。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門前払いのあるある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社長は、こう言って終わらせる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97887"/>
            <a:ext cx="493776" cy="49377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7221" y="2411455"/>
            <a:ext cx="148132" cy="1481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8092" y="2559588"/>
            <a:ext cx="286390" cy="20738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28239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社長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19072" y="2103120"/>
            <a:ext cx="7955279" cy="1051560"/>
          </a:xfrm>
          <a:prstGeom prst="roundRect">
            <a:avLst>
              <a:gd name="adj" fmla="val 14000"/>
            </a:avLst>
          </a:prstGeom>
          <a:solidFill>
            <a:srgbClr val="F4EBD6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6200000">
            <a:off x="1627632" y="2537460"/>
            <a:ext cx="182880" cy="182880"/>
          </a:xfrm>
          <a:prstGeom prst="triangl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3392" y="2103120"/>
            <a:ext cx="7406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保険は、もう間に合ってるよ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本音：付き合いの担当がいる、という“義理”。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14039"/>
            <a:ext cx="493776" cy="49377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7221" y="3627607"/>
            <a:ext cx="148132" cy="1481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8092" y="3775740"/>
            <a:ext cx="286390" cy="20738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044391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社長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19072" y="3319272"/>
            <a:ext cx="7955279" cy="1051560"/>
          </a:xfrm>
          <a:prstGeom prst="roundRect">
            <a:avLst>
              <a:gd name="adj" fmla="val 14000"/>
            </a:avLst>
          </a:prstGeom>
          <a:solidFill>
            <a:srgbClr val="F4EBD6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627632" y="3753612"/>
            <a:ext cx="182880" cy="182880"/>
          </a:xfrm>
          <a:prstGeom prst="triangl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3392" y="3319272"/>
            <a:ext cx="7406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税理士に任せてるから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本音：数字は外注済みのつもり。入る余地がない、と思っている。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730191"/>
            <a:ext cx="493776" cy="49377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7221" y="4843759"/>
            <a:ext cx="148132" cy="1481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8092" y="4991892"/>
            <a:ext cx="286390" cy="20738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260543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社長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19072" y="4535424"/>
            <a:ext cx="7955279" cy="1051560"/>
          </a:xfrm>
          <a:prstGeom prst="roundRect">
            <a:avLst>
              <a:gd name="adj" fmla="val 14000"/>
            </a:avLst>
          </a:prstGeom>
          <a:solidFill>
            <a:srgbClr val="F4EBD6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6200000">
            <a:off x="1627632" y="4969764"/>
            <a:ext cx="182880" cy="182880"/>
          </a:xfrm>
          <a:prstGeom prst="triangl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93392" y="4535424"/>
            <a:ext cx="74066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今は忙しい、また今度ね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本音：やんわり拒否。会う価値を感じていない。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どれも本気の反論じゃない。“会う価値”を感じていない、というサインです。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なぜ門前払いされるのか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950976"/>
            <a:ext cx="548640" cy="54864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960120"/>
            <a:ext cx="9509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“保険を売る人”は、街にあふれている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585216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91440" cy="3749039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3040379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265175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毎日のように、誰かが保険を売りに来る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400050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61187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“商品”で差別化しても、すぐ埋もれる</a:t>
            </a:r>
          </a:p>
        </p:txBody>
      </p:sp>
      <p:sp>
        <p:nvSpPr>
          <p:cNvPr id="13" name="Oval 12"/>
          <p:cNvSpPr/>
          <p:nvPr/>
        </p:nvSpPr>
        <p:spPr>
          <a:xfrm>
            <a:off x="1280160" y="496062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457199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選ばれる人は、保険以外の“武器”を持つ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194560"/>
            <a:ext cx="4297680" cy="3749039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219456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0184" y="2578608"/>
            <a:ext cx="1719072" cy="420624"/>
          </a:xfrm>
          <a:prstGeom prst="roundRect">
            <a:avLst>
              <a:gd name="adj" fmla="val 50000"/>
            </a:avLst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2560320"/>
            <a:ext cx="171907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ライバル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国内の、生命保険の募集人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566160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約120万人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89204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あなたも、その他大勢の</a:t>
            </a:r>
          </a:p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“保険屋”の一人。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5595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※参考値・要裏取り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FP法人開拓 ・ 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結論は、シンプルです。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「保険屋」で行くから、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門前払いされる。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違いは“何を持って、社長に会いに行くか”。― ここから、その“武器”の話をします。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なぜ“法人”なのか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個人保険と法人保険は、“桁”が違う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2286000" cy="5852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57400"/>
            <a:ext cx="1993392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比較項目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2057400"/>
            <a:ext cx="4114800" cy="585216"/>
          </a:xfrm>
          <a:prstGeom prst="rect">
            <a:avLst/>
          </a:prstGeom>
          <a:solidFill>
            <a:srgbClr val="ECEDF1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55264" y="2057400"/>
            <a:ext cx="3822191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0F1A33"/>
                </a:solidFill>
                <a:latin typeface="Noto Sans CJK JP"/>
                <a:ea typeface="Noto Sans CJK JP"/>
                <a:cs typeface="Noto Sans CJK JP"/>
              </a:rPr>
              <a:t>個人保険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057400"/>
            <a:ext cx="4114800" cy="585216"/>
          </a:xfrm>
          <a:prstGeom prst="rect">
            <a:avLst/>
          </a:prstGeom>
          <a:solidFill>
            <a:srgbClr val="F2E7CB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0064" y="2057400"/>
            <a:ext cx="3822191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法人保険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42616"/>
            <a:ext cx="2286000" cy="8138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642616"/>
            <a:ext cx="199339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1件の保険料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642616"/>
            <a:ext cx="4114800" cy="8138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5010912" y="2755727"/>
            <a:ext cx="310896" cy="310896"/>
          </a:xfrm>
          <a:prstGeom prst="triangle">
            <a:avLst/>
          </a:prstGeom>
          <a:solidFill>
            <a:srgbClr val="AFB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3082076"/>
            <a:ext cx="374903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年 数万円〜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642616"/>
            <a:ext cx="4114800" cy="813816"/>
          </a:xfrm>
          <a:prstGeom prst="rect">
            <a:avLst/>
          </a:prstGeom>
          <a:solidFill>
            <a:srgbClr val="FCF8E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5712" y="2755727"/>
            <a:ext cx="310896" cy="310896"/>
          </a:xfrm>
          <a:prstGeom prst="ellipse">
            <a:avLst/>
          </a:prstGeom>
          <a:noFill/>
          <a:ln w="4572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082076"/>
            <a:ext cx="374903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年 数百万円〜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56432"/>
            <a:ext cx="2286000" cy="8138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456432"/>
            <a:ext cx="199339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手数料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456432"/>
            <a:ext cx="4114800" cy="8138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5010912" y="3569543"/>
            <a:ext cx="310896" cy="310896"/>
          </a:xfrm>
          <a:prstGeom prst="triangle">
            <a:avLst/>
          </a:prstGeom>
          <a:solidFill>
            <a:srgbClr val="AFB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895892"/>
            <a:ext cx="374903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小さい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3456432"/>
            <a:ext cx="4114800" cy="813816"/>
          </a:xfrm>
          <a:prstGeom prst="rect">
            <a:avLst/>
          </a:prstGeom>
          <a:solidFill>
            <a:srgbClr val="FCF8E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25712" y="3569543"/>
            <a:ext cx="310896" cy="310896"/>
          </a:xfrm>
          <a:prstGeom prst="ellipse">
            <a:avLst/>
          </a:prstGeom>
          <a:noFill/>
          <a:ln w="4572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895892"/>
            <a:ext cx="374903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桁が違う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270248"/>
            <a:ext cx="2286000" cy="8138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270248"/>
            <a:ext cx="199339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営業スタイル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0" y="4270248"/>
            <a:ext cx="4114800" cy="8138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 rot="2700000">
            <a:off x="5010912" y="4506803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 rot="18900000">
            <a:off x="5010912" y="4506803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4709708"/>
            <a:ext cx="374903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件数を追う“消耗戦”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4270248"/>
            <a:ext cx="4114800" cy="813816"/>
          </a:xfrm>
          <a:prstGeom prst="rect">
            <a:avLst/>
          </a:prstGeom>
          <a:solidFill>
            <a:srgbClr val="FCF8E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25712" y="4383359"/>
            <a:ext cx="310896" cy="310896"/>
          </a:xfrm>
          <a:prstGeom prst="ellipse">
            <a:avLst/>
          </a:prstGeom>
          <a:noFill/>
          <a:ln w="4572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4709708"/>
            <a:ext cx="374903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1件が大きく、安定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5084064"/>
            <a:ext cx="2286000" cy="8138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5084064"/>
            <a:ext cx="1993392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参入のしやすさ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5084064"/>
            <a:ext cx="4114800" cy="8138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5010912" y="5197175"/>
            <a:ext cx="310896" cy="310896"/>
          </a:xfrm>
          <a:prstGeom prst="triangle">
            <a:avLst/>
          </a:prstGeom>
          <a:solidFill>
            <a:srgbClr val="AFB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5523524"/>
            <a:ext cx="374903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誰でも売れる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5084064"/>
            <a:ext cx="4114800" cy="813816"/>
          </a:xfrm>
          <a:prstGeom prst="rect">
            <a:avLst/>
          </a:prstGeom>
          <a:solidFill>
            <a:srgbClr val="FCF8E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25712" y="5197175"/>
            <a:ext cx="310896" cy="310896"/>
          </a:xfrm>
          <a:prstGeom prst="ellipse">
            <a:avLst/>
          </a:prstGeom>
          <a:noFill/>
          <a:ln w="4572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5523524"/>
            <a:ext cx="374903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“会計が分かる人”だけ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6044184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※金額は参考値（要裏取り）。だから、みんな“法人”に行きたい。でも、入口で門前払い。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0" y="731520"/>
            <a:ext cx="5303520" cy="5577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5000" b="1" i="0">
                <a:solidFill>
                  <a:srgbClr val="1B2A4A"/>
                </a:solidFill>
                <a:latin typeface="Noto Serif CJK JP"/>
                <a:ea typeface="Noto Serif CJK JP"/>
                <a:cs typeface="Noto Serif CJK JP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128016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70048"/>
            <a:ext cx="3291840" cy="2743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926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取れる人は、何が違うのか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46704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取れる人は、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“数字”から入る。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7492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同じ社長に、2人の保険マンが会いに行った。一人は断られ、一人は頼られた。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ケース ・ 取れない保険マン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“良い人風”でも、結局“保険ありき”の人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962668"/>
            <a:ext cx="435071" cy="435071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6675" y="2062734"/>
            <a:ext cx="130521" cy="130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765" y="2193256"/>
            <a:ext cx="252341" cy="18273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015" y="2434315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保険マン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0367" y="1828800"/>
            <a:ext cx="7040880" cy="8366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6200000">
            <a:off x="1568927" y="2155698"/>
            <a:ext cx="182880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4687" y="1828800"/>
            <a:ext cx="6492240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社長、そろそろ事業承継の時期ですね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63936"/>
            <a:ext cx="435071" cy="435071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6675" y="3064002"/>
            <a:ext cx="130521" cy="130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765" y="3194524"/>
            <a:ext cx="252341" cy="18273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015" y="3435583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保険マン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60367" y="2830068"/>
            <a:ext cx="7040880" cy="8366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568927" y="3156965"/>
            <a:ext cx="182880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4687" y="2830068"/>
            <a:ext cx="6492240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承継か、清算か、M&amp;Aか…どうされます？</a:t>
            </a:r>
          </a:p>
        </p:txBody>
      </p:sp>
      <p:sp>
        <p:nvSpPr>
          <p:cNvPr id="19" name="Oval 18"/>
          <p:cNvSpPr/>
          <p:nvPr/>
        </p:nvSpPr>
        <p:spPr>
          <a:xfrm>
            <a:off x="10839480" y="3965204"/>
            <a:ext cx="435071" cy="435071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91755" y="4065270"/>
            <a:ext cx="130521" cy="130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30845" y="4195792"/>
            <a:ext cx="252341" cy="18273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54096" y="4436851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社長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87704" y="3831335"/>
            <a:ext cx="7040880" cy="836676"/>
          </a:xfrm>
          <a:prstGeom prst="roundRect">
            <a:avLst>
              <a:gd name="adj" fmla="val 14000"/>
            </a:avLst>
          </a:prstGeom>
          <a:solidFill>
            <a:srgbClr val="F4EBD6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5400000">
            <a:off x="10437144" y="4158233"/>
            <a:ext cx="182880" cy="182880"/>
          </a:xfrm>
          <a:prstGeom prst="triangl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62024" y="3831335"/>
            <a:ext cx="6492240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…まだ、迷っているんですけどね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966472"/>
            <a:ext cx="435071" cy="435071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6675" y="5066538"/>
            <a:ext cx="130521" cy="130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765" y="5197060"/>
            <a:ext cx="252341" cy="18273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015" y="5438119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保険マン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60367" y="4832603"/>
            <a:ext cx="7040880" cy="8366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16200000">
            <a:off x="1568927" y="5159502"/>
            <a:ext cx="182880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4687" y="4832603"/>
            <a:ext cx="6492240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保険を活用すると“損”を減らせます。株価対策や老後資金に使える保険、お伝えしますね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一見、親切。でも“課題”を見る前に“保険ありき”。社長の心の声：“結局、保険を売りたいだけか”。― 門前払いコース。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ケース ・ だから、取れない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こんな“保険マン”のままでは、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法人マーケットで生き抜けない。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悪い人ではありません。でも“保険ありき”で入る限り、何度行っても門前払い。― では、どうするか。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ケース ・ 取れる保険マン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“数字”から入って、一緒に考える人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962668"/>
            <a:ext cx="435071" cy="435071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6675" y="2062734"/>
            <a:ext cx="130521" cy="130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765" y="2193256"/>
            <a:ext cx="252341" cy="18273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015" y="2434315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取れる人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60367" y="1828800"/>
            <a:ext cx="7040880" cy="8366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6200000">
            <a:off x="1568927" y="2155698"/>
            <a:ext cx="182880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4687" y="1828800"/>
            <a:ext cx="6492240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承継か清算かで、打つ手は変わります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63936"/>
            <a:ext cx="435071" cy="435071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6675" y="3064002"/>
            <a:ext cx="130521" cy="130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765" y="3194524"/>
            <a:ext cx="252341" cy="18273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015" y="3435583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取れる人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60367" y="2830068"/>
            <a:ext cx="7040880" cy="8366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568927" y="3156965"/>
            <a:ext cx="182880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4687" y="2830068"/>
            <a:ext cx="6492240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今のBSだけだと、株価対策が要るか分かりません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965204"/>
            <a:ext cx="435071" cy="435071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6675" y="4065270"/>
            <a:ext cx="130521" cy="130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765" y="4195792"/>
            <a:ext cx="252341" cy="18273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015" y="4436851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取れる人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60367" y="3831335"/>
            <a:ext cx="7040880" cy="83667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6200000">
            <a:off x="1568927" y="4158233"/>
            <a:ext cx="182880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34687" y="3831335"/>
            <a:ext cx="6492240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“承継した時”と“清算した時”のBSを並べて、現金の過不足を一緒に見ませんか？</a:t>
            </a:r>
          </a:p>
        </p:txBody>
      </p:sp>
      <p:sp>
        <p:nvSpPr>
          <p:cNvPr id="26" name="Oval 25"/>
          <p:cNvSpPr/>
          <p:nvPr/>
        </p:nvSpPr>
        <p:spPr>
          <a:xfrm>
            <a:off x="10839480" y="4966472"/>
            <a:ext cx="435071" cy="435071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91755" y="5066538"/>
            <a:ext cx="130521" cy="13052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30845" y="5197060"/>
            <a:ext cx="252341" cy="18273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54096" y="5438119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社長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87704" y="4832603"/>
            <a:ext cx="7040880" cy="836676"/>
          </a:xfrm>
          <a:prstGeom prst="roundRect">
            <a:avLst>
              <a:gd name="adj" fmla="val 14000"/>
            </a:avLst>
          </a:prstGeom>
          <a:solidFill>
            <a:srgbClr val="F4EBD6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5400000">
            <a:off x="10437144" y="5159502"/>
            <a:ext cx="182880" cy="182880"/>
          </a:xfrm>
          <a:prstGeom prst="triangl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62024" y="4832603"/>
            <a:ext cx="6492240" cy="8366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…そんな見方、今まで誰もしてくれなかった。ぜひお願いします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保険を売り込まない。“数字で一緒に考える”から、社長は心を開く。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FP法人開拓 ・ 分かれ道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同じFP。違いは、たった一つ。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2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“保険”から入るか、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2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“数字”から入るか。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才能でも、トークの上手さでもない。社長の数字を一緒に見られるか ― それだけ。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取れる人の“見方”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7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取れる人は、“事業課題”と“決算書”の連動を見る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社長の課題は、山ほどある。― そのどれもが、“決算書”に表れる。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80360"/>
            <a:ext cx="33070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8803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3154679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13639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3154679"/>
            <a:ext cx="21366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売上・利益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39896"/>
            <a:ext cx="275844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伸びてる？ ちゃんと残ってる？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0080" y="2880360"/>
            <a:ext cx="33070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0080" y="28803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24399" y="3154679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399" y="313639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1" y="3154679"/>
            <a:ext cx="21366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資金繰り・税金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399" y="3739896"/>
            <a:ext cx="275844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黒字でも現金は？ 払い過ぎは？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1480" y="2880360"/>
            <a:ext cx="33070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1480" y="28803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5800" y="3154679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5800" y="3136391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7592" y="3154679"/>
            <a:ext cx="21366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労務・人事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5800" y="3739896"/>
            <a:ext cx="275844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人件費・採用・定着は回ってる？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480560"/>
            <a:ext cx="33070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4805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3000" y="4754880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73659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754880"/>
            <a:ext cx="21366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経営計画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340096"/>
            <a:ext cx="275844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描いた計画と、数字は合ってる？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50080" y="4480560"/>
            <a:ext cx="33070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50080" y="44805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24399" y="4754880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24399" y="473659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6191" y="4754880"/>
            <a:ext cx="21366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マーケティング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4399" y="5340096"/>
            <a:ext cx="275844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売上の“作り方”、数字で見えてる？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31480" y="4480560"/>
            <a:ext cx="33070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31480" y="44805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05800" y="4754880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5800" y="473659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7592" y="4754880"/>
            <a:ext cx="213664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事業承継・相続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5800" y="5340096"/>
            <a:ext cx="2758440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承継／清算／M&amp;A、どこへ向かう？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952744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→ 取れる人は、これらが“決算書と連動しているか”を見る。実態BS・清算BSは、その確認の“一過程”。※税・評価は【要・税理士確認】。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取れない保険マン と 取れる保険マン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57400"/>
            <a:ext cx="2103120" cy="5852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2057400"/>
            <a:ext cx="1810511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比較項目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79" y="2057400"/>
            <a:ext cx="4206240" cy="585216"/>
          </a:xfrm>
          <a:prstGeom prst="rect">
            <a:avLst/>
          </a:prstGeom>
          <a:solidFill>
            <a:srgbClr val="ECEDF1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2384" y="2057400"/>
            <a:ext cx="3913631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0F1A33"/>
                </a:solidFill>
                <a:latin typeface="Noto Sans CJK JP"/>
                <a:ea typeface="Noto Sans CJK JP"/>
                <a:cs typeface="Noto Sans CJK JP"/>
              </a:rPr>
              <a:t>取れない保険マン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19" y="2057400"/>
            <a:ext cx="4206240" cy="585216"/>
          </a:xfrm>
          <a:prstGeom prst="rect">
            <a:avLst/>
          </a:prstGeom>
          <a:solidFill>
            <a:srgbClr val="F2E7CB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78623" y="2057400"/>
            <a:ext cx="3913631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取れる保険マン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642616"/>
            <a:ext cx="2103120" cy="8138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642616"/>
            <a:ext cx="181051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入口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79" y="2642616"/>
            <a:ext cx="4206240" cy="8138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 rot="2700000">
            <a:off x="4873752" y="2879171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18900000">
            <a:off x="4873752" y="2879171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082076"/>
            <a:ext cx="384047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保険の話から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19" y="2642616"/>
            <a:ext cx="4206240" cy="813816"/>
          </a:xfrm>
          <a:prstGeom prst="rect">
            <a:avLst/>
          </a:prstGeom>
          <a:solidFill>
            <a:srgbClr val="FCF8E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79991" y="2755727"/>
            <a:ext cx="310896" cy="310896"/>
          </a:xfrm>
          <a:prstGeom prst="ellipse">
            <a:avLst/>
          </a:prstGeom>
          <a:noFill/>
          <a:ln w="4572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9" y="3082076"/>
            <a:ext cx="384047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会社の“数字”から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456432"/>
            <a:ext cx="2103120" cy="8138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3456432"/>
            <a:ext cx="181051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提案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79" y="3456432"/>
            <a:ext cx="4206240" cy="8138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 rot="2700000">
            <a:off x="4873752" y="3692987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 rot="18900000">
            <a:off x="4873752" y="3692987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895892"/>
            <a:ext cx="384047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商品を、すぐ提案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19" y="3456432"/>
            <a:ext cx="4206240" cy="813816"/>
          </a:xfrm>
          <a:prstGeom prst="rect">
            <a:avLst/>
          </a:prstGeom>
          <a:solidFill>
            <a:srgbClr val="FCF8E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79991" y="3569543"/>
            <a:ext cx="310896" cy="310896"/>
          </a:xfrm>
          <a:prstGeom prst="ellipse">
            <a:avLst/>
          </a:prstGeom>
          <a:noFill/>
          <a:ln w="4572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9" y="3895892"/>
            <a:ext cx="384047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課題を、一緒に発見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270248"/>
            <a:ext cx="2103120" cy="8138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270248"/>
            <a:ext cx="181051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見られ方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79" y="4270248"/>
            <a:ext cx="4206240" cy="8138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 rot="2700000">
            <a:off x="4873752" y="4506803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 rot="18900000">
            <a:off x="4873752" y="4506803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4709708"/>
            <a:ext cx="384047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保険屋さん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19" y="4270248"/>
            <a:ext cx="4206240" cy="813816"/>
          </a:xfrm>
          <a:prstGeom prst="rect">
            <a:avLst/>
          </a:prstGeom>
          <a:solidFill>
            <a:srgbClr val="FCF8E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79991" y="4383359"/>
            <a:ext cx="310896" cy="310896"/>
          </a:xfrm>
          <a:prstGeom prst="ellipse">
            <a:avLst/>
          </a:prstGeom>
          <a:noFill/>
          <a:ln w="4572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9" y="4709708"/>
            <a:ext cx="384047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先生・相談役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084064"/>
            <a:ext cx="2103120" cy="813816"/>
          </a:xfrm>
          <a:prstGeom prst="rect">
            <a:avLst/>
          </a:prstGeom>
          <a:solidFill>
            <a:srgbClr val="EFEADC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" y="5084064"/>
            <a:ext cx="1810511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結果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79" y="5084064"/>
            <a:ext cx="4206240" cy="813816"/>
          </a:xfrm>
          <a:prstGeom prst="rect">
            <a:avLst/>
          </a:prstGeom>
          <a:solidFill>
            <a:srgbClr val="FFFFF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 rot="2700000">
            <a:off x="4873752" y="5320619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 rot="18900000">
            <a:off x="4873752" y="5320619"/>
            <a:ext cx="310896" cy="68580"/>
          </a:xfrm>
          <a:prstGeom prst="roundRect">
            <a:avLst/>
          </a:prstGeom>
          <a:solidFill>
            <a:srgbClr val="A6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5523524"/>
            <a:ext cx="384047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断られて、終わり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19" y="5084064"/>
            <a:ext cx="4206240" cy="813816"/>
          </a:xfrm>
          <a:prstGeom prst="rect">
            <a:avLst/>
          </a:prstGeom>
          <a:solidFill>
            <a:srgbClr val="FCF8EF"/>
          </a:solidFill>
          <a:ln w="9525">
            <a:solidFill>
              <a:srgbClr val="E2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79991" y="5197175"/>
            <a:ext cx="310896" cy="310896"/>
          </a:xfrm>
          <a:prstGeom prst="ellipse">
            <a:avLst/>
          </a:prstGeom>
          <a:noFill/>
          <a:ln w="4572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199" y="5523524"/>
            <a:ext cx="3840479" cy="358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次も、呼ばれる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6044184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同じ訪問。立つ“土俵”が違うだけ。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0" y="731520"/>
            <a:ext cx="5303520" cy="5577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5000" b="1" i="0">
                <a:solidFill>
                  <a:srgbClr val="1B2A4A"/>
                </a:solidFill>
                <a:latin typeface="Noto Serif CJK JP"/>
                <a:ea typeface="Noto Serif CJK JP"/>
                <a:cs typeface="Noto Serif CJK JP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128016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70048"/>
            <a:ext cx="3291840" cy="2743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926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では、どうするか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46704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会計を武器に、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相談役へ。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7492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相続・事業承継・会計が分かると、こうなる。― そして、王道の流れ。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大きな契約はどこにあるか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950976"/>
            <a:ext cx="548640" cy="54864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960120"/>
            <a:ext cx="9509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高単価の契約は、事業承継と相続にある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585216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91440" cy="3749039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3040379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265175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事業承継：自社株・納税・退職金の備え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400050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61187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相続：家族と資産を守る大型保障</a:t>
            </a:r>
          </a:p>
        </p:txBody>
      </p:sp>
      <p:sp>
        <p:nvSpPr>
          <p:cNvPr id="13" name="Oval 12"/>
          <p:cNvSpPr/>
          <p:nvPr/>
        </p:nvSpPr>
        <p:spPr>
          <a:xfrm>
            <a:off x="1280160" y="496062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457199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入口は“会計”。数字が分かる人に相談が来る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194560"/>
            <a:ext cx="4297680" cy="3749039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219456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80" y="2578608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A8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2560320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大型ニーズ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法人の大型契約・保険料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566160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年 数百万円〜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89204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個人契約とは、</a:t>
            </a:r>
          </a:p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手数料の“桁”が変わる。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55955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※参考値・要裏取り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相続が分かると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相続が分かると、こうなる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" y="2345436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271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5" y="2103120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社長の“家族の未来”まで、踏み込んで話せる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09544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09544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3451860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43357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5" y="3209544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株・自宅・現金で“詰む”前に、先に手を打てる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15968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315968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1288" y="4558283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5399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095" y="4315968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保険は“結果”として、自然に出てくる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※相続・税は一般的な情報提供にとどめ、個別は税理士へ。【要・税理士確認】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事業承継が分かると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事業承継が分かると、こうなる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" y="2345436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271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5" y="2103120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「誰に・どう渡すか」を、一緒に描ける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09544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09544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3451860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43357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5" y="3209544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自社株・納税という“大型ニーズ”が見える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15968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315968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1288" y="4558283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5399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095" y="4315968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1社の信頼が、次の社長を連れてくる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※自社株評価・税は一般論。断定しない。【要・税理士確認】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会計が分かると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会計が分かると、こうなる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" y="2345436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32714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5" y="2103120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決算書を“預かれる”＝面談の扉が開く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「2期分あると、お金の流れが見えます」。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09544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09544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3451860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43357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5" y="3209544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社長と“数字”で、対等に話せる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15968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315968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1288" y="4558283"/>
            <a:ext cx="475488" cy="475488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5399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095" y="4315968"/>
            <a:ext cx="9153143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お金の“漏れ”を見つけ、提案が刺さる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会計は目的じゃない。社長に“頼られる”ための、武器です。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FP法人開拓 ・ 王道の流れ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売れるFPの、王道の4ステップ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この流れを、毎週まわすだけ。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2343150" y="3319272"/>
            <a:ext cx="7475220" cy="4114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49957" y="2944368"/>
            <a:ext cx="786384" cy="786384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49957" y="2944368"/>
            <a:ext cx="786384" cy="786384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9957" y="2926079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23088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決算書を預かる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4544568"/>
            <a:ext cx="22722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「2期分あると、お金の流れが見えます」。</a:t>
            </a:r>
          </a:p>
        </p:txBody>
      </p:sp>
      <p:sp>
        <p:nvSpPr>
          <p:cNvPr id="12" name="Oval 11"/>
          <p:cNvSpPr/>
          <p:nvPr/>
        </p:nvSpPr>
        <p:spPr>
          <a:xfrm>
            <a:off x="4441698" y="2944368"/>
            <a:ext cx="786384" cy="786384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41698" y="2944368"/>
            <a:ext cx="786384" cy="786384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1698" y="2926079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0460" y="3977639"/>
            <a:ext cx="23088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ヒアリング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8748" y="4544568"/>
            <a:ext cx="22722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数字を起点に、社長の悩みを引き出す。</a:t>
            </a:r>
          </a:p>
        </p:txBody>
      </p:sp>
      <p:sp>
        <p:nvSpPr>
          <p:cNvPr id="17" name="Oval 16"/>
          <p:cNvSpPr/>
          <p:nvPr/>
        </p:nvSpPr>
        <p:spPr>
          <a:xfrm>
            <a:off x="6933438" y="2944368"/>
            <a:ext cx="786384" cy="786384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3438" y="2944368"/>
            <a:ext cx="786384" cy="786384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3438" y="2926079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3977639"/>
            <a:ext cx="23088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課題分析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544568"/>
            <a:ext cx="22722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お金の“漏れ”と承継・相続の論点を整理。</a:t>
            </a:r>
          </a:p>
        </p:txBody>
      </p:sp>
      <p:sp>
        <p:nvSpPr>
          <p:cNvPr id="22" name="Oval 21"/>
          <p:cNvSpPr/>
          <p:nvPr/>
        </p:nvSpPr>
        <p:spPr>
          <a:xfrm>
            <a:off x="9425178" y="2944368"/>
            <a:ext cx="786384" cy="786384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25178" y="2944368"/>
            <a:ext cx="786384" cy="786384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5178" y="2926079"/>
            <a:ext cx="786384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3939" y="3977639"/>
            <a:ext cx="23088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提案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2227" y="4544568"/>
            <a:ext cx="22722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解決策として、保険が“結果”で出る。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保険は最後に、“結果”として出てくる。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FP法人開拓  —  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FP法人開拓 ・ 到達点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決算書 → ヒアリング → 課題分析 → 提案。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この流れが身につけば、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“超売れる”FPになれる。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保険を追いかけるのを、やめる。社長の数字に向き合えば、契約は“結果”でついてくる。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FP専用オープンチャット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こうした情報を、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オープンチャットで配信します。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今日のプレゼントは、ほんの入口です。“会計を武器に法人を開く”実践情報を、これからもこの場で。見逃さないよう、通知をオンに。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FP法人開拓  —  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FPが法人で“仕事を取れない”理由 ― 取れる人は、何が違うのか</dc:title>
  <dc:subject/>
  <dc:creator>大吉塾 / 藤山泰成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