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（動作：カメラON・笑顔。最初の30秒はコメント確認）皆さん、こんばんは。フジヤマです。今日から3日間、よろしくお願いします。……まず、音声ちゃんと聞こえてますかね？ コメント欄に「聞こえてます」と一言、お願いします。（動作：2〜3秒待つ）はい、ありがとうございます。バッチリですね。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始める前に、運営のことだけ4つ、サクッと。1つ目、今日は普通のZOOM。顔出しは任意、カメラOFF・名前だけでOK。2つ目、録画してます。あとでFacebookの非公開グループで共有するので、途中で抜けても追いつけます。3つ目、これが大事――着席特典です（次のスライドで詳しく）。4つ目、質問はコメントへ。拾えなかった分は後でFBグループで。……はい、前説は以上。じゃ、本題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これが大事。着席特典です。20:10までに入って、コメントにスタンプ（or「1」）を送ってくれた方に、「財務三表の“繋がり”理解PDF」をお渡しします。今日いちばん大事な「3枚の決算書がどう繋がるか」を1枚にしたやつ。今日の話と地続きなんで、最後まで持っといてください。（動作：「いま入ってる方、忘れんうちにスタンプどうぞ」と促し流入を待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改めまして、フジヤマです。今日から3日間、皆さんの「法人で売れるようになりたい」を本気でお手伝いします。……いきなりですけど、僕、昔は「会計？数字？ そんなん税理士に任せとけばええやん」って思ってたんですよ。金融の世界に長くいて、分かった気になってた。〔藤山ヒアリング待ち：自身の“痛み”の具体を1つ。「数字を後回しにしたまま走って、黒字のはずやのに気づいたら現金が消えていた」という体験の輪郭（金額・固有名は出さない／自虐にしない）。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結論から言うと、それがいちばんの遠回りでした。でも、そのおかげで今、皆さんに伝えられることがある。今日はその話です。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いろんな経営者と関わって、あることに気づいたんです。「あれ？ 数字でしんどいの、昔の僕だけちゃうやん」って。しかも――赤字で苦しむ社長より、“黒字なのに金が残らへん”社長のほうが、めちゃくちゃ多い。〔藤山ヒアリング待ち：そういう社長を何人も見てきた、という体感の一言。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いちばん最初に握ってほしいのはこれです。「社長が本当に怖いのは、赤字より“黒字なのに金がない”。そして、それを一緒に見てくれる人が、社長の隣にいない」。……この一個で、皆さんの法人開拓の景色、ガラッと変わります。なんでか、今から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まず、ちょっと不思議な話から。「売上が伸びて、利益も出てる。なのに、なぜか会社の現金がどんどん減る」――こんな会社、めっちゃ多いんですよ。「儲かってるのに、金がない」。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たとえ話で一発でいきます。あなたが700円で仕入れた物を、1,000円で売った。差し引き300円のもうけ。これを大量にさばいて、帳簿の上では「今月も黒字！」。……めでたし、ちゃうんですよ。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実が2つ起きます。1つ、売った1,000円、すぐ入ってこない。入金は「2ヶ月後」やったりする。でも仕入れの支払いは先に来る。2つ、次も売れるよう、在庫を抱える。棚に7万円分が“寝てる”。お金が物に化けて動かへん。……つまり、売れるほど、入金待ちと在庫で、手元の現金が先に出ていく。これが「儲かるほど金が足りなくなる」の正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帳簿の上では黒字。でも通帳の残高は減る。これが続くと、利益が出てるのに資金が尽きて潰れる。いわゆる黒字倒産。「勘定合って銭足らず」ってやつです。社長さん自身、これに気づいてないか、気づいても言葉にできてへんことが、ほんまに多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長が夜中にふと不安になるの、たいていこれです。「利益は出てるはずやのに、なんでこんなに金繰りが苦しいんや」。……で、それを安心して相談できる相手が、隣におらん。税理士さんは“終わった数字”をまとめてくれる大事な人。でも「この先どうお金を残すか」を一緒に考える席は――ぽっかり空いてるんです。後半で、その席の座り方を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はい、後半。「儲かるほど金が足りない」は分かった。じゃあどこを見たらお金が残るのか。難しい用語ゼロで、1枚の絵にして持って帰ってもらいます。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紙でも頭の中でもいい、箱を縦に積みます。いちばん上に「売上」の箱。会社に入る一番大きいお金。……でもこれ、まるまる残るわけちゃうんです。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売上からまず引かれるのが、仕入れや材料費。さっきの「700円」。これは売れた瞬間、ヨソに素通りして出ていくお金。会社にとどまらへん。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その“素通り分”を引いて残ったのが、会社に実際に入ってくるお金。社長が本当に見なあかん数字はここ。多くの社長が「売上！」って言うてる横で、効くのはこの“残り”のほうなんです。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その残りから、毎月かならず出ていくお金――家賃、人件費――を引く。引いて、最後にほんまに手元に残るやつ。ここが「お金が残るか、残らへんか」の分かれ目です。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…これが今日の主役、「お金の地図」。売上→素通り分を引いて→残り→固定費を引いて→手元に残る。たったこれだけ。この地図があると、社長に「どこを動かせばお金が残るか」が言える。「売上を追うより、ここの“素通り”を1割締めるほうが効きますよ」とかね。（補足：藤山が研修でやってるマネジメントゲームも、根っこはこの考え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…で、勘のいい方。いま見た“お金の地図”や黒字倒産の話、あれ実は、会社の「決算書」の話なんです。決算書って、ざっくり3枚の紙でできてる。名前は覚えなくていい。役割と、つながりだけイメージで掴んでください。ここからが今日のキ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目。「1年間でなんぼ売って、なんぼ残ったか」の成績表。1年分の家計簿、あるいは1年間の“ビデオ映像”みたいなもん。……これ、実は「損益計算書」って言います。さっきのお金の地図の、いちばん近い親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身は単純。売上があって、そこからいろんな経費を引いていって、最後にもうけ（利益）が残る。お金の地図とおんなじ動きですよね。「売上1億、経費9千万、残り1千万」みたいに、1年走った結果の数字。これが成績表＝損益計算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枚目。「今この瞬間、いくら持ってて、いくら借りてるか」のスナップ写真。会社の健康診断書みたいなもん。太ってるか、引き締まってるか。……これが実は「貸借対照表」。大事なのは、PLが“1年間のビデオ”なら、こっちは“今この一瞬の写真”。期間と一点、ここが対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身は3つだけ。持ってるもの（資産）、借りてるもの（負債）、差し引き自分のもん（純資産）。「現金や建物で1億持ってて、借入が6千万、残り4千万が自分のもん」。これが今の財産の写真＝貸借対照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枚目。「現金が、実際にどう出入りしたか」。要は通帳です。さっきの「黒字なのに通帳が減る」を映すのが、これ。……実は「キャッシュフロー計算書」。今日の“黒字なのに金がない”に、いちばん効くや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ミソで、利益とお金は別もの。成績表（PL）では1千万のもうけでも、通帳（CF）では入金待ちと返済で現金が減ってる、なんてことが起きる。だから3枚目の通帳を見ると、「儲かってるのに金がない」の正体が見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はい、まとめ。PL＝1年の成績表（ビデオ）／BS＝今の財産の写真／CF＝通帳。この3つの役割がイメージできたら、決算書はもう「ようわからん紙」じゃない。しかも――完璧に読めるようになる必要はゼロです。役割と、次に話す“繋がり”が分かれば十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で、ここからが今日のハイライト。この3枚、バラバラに見えて、実は1本に繋がってるんです。順番に、線で結んでいきますね。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から、損益計算書（成績表）／キャッシュフロー（通帳）／貸借対照表（今の写真）。3枚、並べました。最初に言いたいのはこれ。この3枚、別々の書類ちゃうんです。“同じ会社”を、3つの方向から見てるだけ。1つの会社の、成績と、現金の動きと、今の財産。それ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目の線。成績表の一番下、1年のもうけ（当期純利益）。これがどこへ行くか。……貸借対照表の、“自分のもん（純資産）”のところに、積み上がるんですよ。今年の儲けが、会社の財産に乗っかる。「儲けは、純資産に積み上がる」。これが1本目の繋が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本目。通帳（キャッシュフロー）の、最後に残った現金。これは、貸借対照表の“現金”とピタッと一致します。通帳の残高＝今の写真の現金。当たり前のようで、ここが繋がってると分かると、一気に景色が立体になる。「残った現金は、BSの現金と一致す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…はい。3枚を繋ぐ線、たった2本です。①もうけ→純資産（オレンジ）、②現金→現金（青）。これだけ。決算書って分厚くて難しそうやけど、社長と話すために追うのは、この“利益”と“現金”の2本だけ。これが今日のゴール、「財務三表の繋がりがイメージできる」状態です。この1枚、特典のPDFにそのまま入れて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皆さんに関係する話に戻します。税理士さんは、“終わった数字”を整理してくれる大事な人。でも忙しい。「この先どうお金を残すか」を社長の隣で一緒に考える、そこまで手が回る先生は、正直そんなに多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ということは、ですよ。「これから、どうお金を残すか」を社長の隣で一緒に見る席――そこが、空いてるんです。皆さんが、さっきのお金の地図と“2本の繋がり”を片手に、その席に座れたら、どうなると思います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長の数字の悩みを一緒に整理していくと――資金繰り、退職金、後継――その解決策のひとつに、自然と保険が出てくる。「売り込む」んやない。お金の残し方を一緒に考えたら、必要なものとして保険が出てくる。つまり、ここに座れたら、保険の話は“向こうから”やってく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ゴール、3行で締めます。1つ、社長が本当に怖いのは、赤字より“黒字なのに金がない”。これは“敵”じゃなく“チャンス”。2つ、お金の地図で“お金の残し方”を語れれば、相談役の席に座れる。保険は後から“結果”でついてくる。3つ、決算書は完璧に読まなくていい。3枚の役割と、“利益と現金”の2本の繋がりが分かれば、社長と対等に話せる。……これだけ持って帰ってもらえたら、もう大成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言うた着席特典。20:10までに入ってスタンプの方に、「財務三表の“繋がり”理解PDF」――今日の連動図を1枚にしたやつ――をお渡しします。さらに完走してくれた方には、会いに行くときの3点セットも。①経営者との“会い方”ガイド ②勘定科目の一覧表（決算書を見るときの早見） ③決算書を“どう預かるか”のフレーズ集。配布はFacebookグループでご案内します。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課題。明日までにFacebook非公開グループに2つ。①身近な社長の「黒字なのに苦しそう」「忙しいのに金が残ってなさそう」を1つ観察して書く。②今日の“お金の地図”と“3枚の繋がり”を、自分の言葉で1つ説明してみる。「もうけは純資産に積む、現金は通帳と一致……」でOK。完璧じゃなくていい。手を動かした人から相談役に近づ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次回予告。今日は「お金が残る地図」と「3枚の繋がり」をイメージしてもらいました。じゃあDay2は――実際の中小企業の決算書を1枚出して、皆さんが“自分で読んで、分析できる”ようになります。「全部読まない、見るのはたった4か所」。その読み方の“型”を、まるごとお渡しします。Day2は7月16日(木)、夜8時から。また同じZOOMで。今日の課題、忘れずに。お疲れさまでした、フジヤマで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3017520"/>
            <a:ext cx="5852160" cy="5852160"/>
          </a:xfrm>
          <a:prstGeom prst="ellipse">
            <a:avLst/>
          </a:prstGeom>
          <a:noFill/>
          <a:ln w="3302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" y="1517904"/>
            <a:ext cx="502920" cy="411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00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保険営業から、社長の“相談役”へ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3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黒字なのに、金が残らない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3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― それを見抜ける人に、社長は心を開く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84632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会計を武器に法人を開く 3日間チャレンジ ／ Day1：WHY ― 取れたら、何が変わるか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5852160"/>
            <a:ext cx="2377440" cy="228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CEDC"/>
                </a:solidFill>
                <a:latin typeface="Noto Sans CJK JP"/>
                <a:ea typeface="Noto Sans CJK JP"/>
                <a:cs typeface="Noto Sans CJK JP"/>
              </a:rPr>
              <a:t>2026.7.14 (火) 20:00–21:00　／　ZOOMライブ配信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01 /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前説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今日の進め方と、4つのお願い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始める前に、運営のことだけ4つ、サクッと。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97480"/>
            <a:ext cx="1046988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697480"/>
            <a:ext cx="82296" cy="70180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2852928"/>
            <a:ext cx="390905" cy="390905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34640"/>
            <a:ext cx="390905" cy="3909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6514" y="2697480"/>
            <a:ext cx="9237725" cy="7018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顔出しは任意です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今日は普通のZOOM。カメラOFF・名前だけでOK。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45586"/>
            <a:ext cx="1046988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545586"/>
            <a:ext cx="82296" cy="70180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3701034"/>
            <a:ext cx="390905" cy="390905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682746"/>
            <a:ext cx="390905" cy="3909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6514" y="3545586"/>
            <a:ext cx="9237725" cy="7018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録画しています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あとでFacebook非公開グループで共有。途中で抜けても追いつけます。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93692"/>
            <a:ext cx="1046988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393692"/>
            <a:ext cx="82296" cy="70180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1288" y="4549140"/>
            <a:ext cx="390905" cy="390905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530852"/>
            <a:ext cx="390905" cy="3909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6514" y="4393692"/>
            <a:ext cx="9237725" cy="7018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着席特典があります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20:10までに入室＋コメントにスタンプ（or「1」）。詳しくは次のスライドで。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241798"/>
            <a:ext cx="1046988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241798"/>
            <a:ext cx="82296" cy="70180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1288" y="5397246"/>
            <a:ext cx="390905" cy="390905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378958"/>
            <a:ext cx="390905" cy="3909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6514" y="5241798"/>
            <a:ext cx="9237725" cy="7018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質問はコメントへ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拾えなかった分は、あとでFBグループで答えます。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02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着席特典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着席特典：財務三表の“繋がり”理解PDF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8521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91440" cy="35661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318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4320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3枚の決算書が“どう繋がるか”を1枚に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9194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70332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今日の話と、そのまま地続きの内容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5206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6344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最後まで持っておいてください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77440"/>
            <a:ext cx="4297680" cy="356616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7744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918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入室＋スタンプ 締切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49039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7492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コメントに「1」かスタンプを送るだけ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オープニング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登壇者プロフィール ― 藤山 泰成（フジヤマ）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三井住友海上 → 独立。4カ国・8業種で事業を展開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兵庫・神戸生まれ。大きな挑戦と“それを上回る規模の失敗”を実体験。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その経験を最大の武器に、会計教育・財務コンサルへ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大吉会計株式会社／ハレノヒハレ会計株式会社 代表取締役。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プライム上場企業・りそな総研・地方銀行などへ会計研修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04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オープニング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昔の僕の、いちばんの遠回り。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数字を、後回しにしていた。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でも、そのおかげで今、皆さんに伝えられることがある。今日は、その話です。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05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オープニング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黒字なのに、金が残らない。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いろんな経営者と関わって気づいた ―「数字でしんどいの、昔の僕だけちゃうやん」。しかも、赤字で苦しむ社長より、“黒字なのに金が残らへん”社長のほうが、めちゃくちゃ多い。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06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今日の核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今日いちばん最初に、握ってほしいこと。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社長が本当に怖いのは、赤字より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“黒字なのに金がない”。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そして、それを一緒に見てくれる人が、社長の隣にいない。この一個を握るだけで、法人開拓の景色がガラッと変わります。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前半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儲かるほど、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金が足りなくなる会社がある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「売上が伸びて、利益も出てる。なのに、なぜか会社の現金がどんどん減る」。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08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前半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たとえ：700円で仕入れて、1,000円で売る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差し引き300円のもうけ。大量にさばいて、帳簿は「今月も黒字！」。……めでたし、ちゃうんです。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97180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97180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971800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帳簿の上では、ちゃんと黒字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1個300円のもうけ。数字だけ見れば、何の問題もない。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07822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07822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4078224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でも、ここから2つの“現実”が起きる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次のスライドへ。これが「儲かるのに金がない」の入口。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09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前半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でも、現金は減る（入金は先・在庫が寝る）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5740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299716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814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2057400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売った1,000円、すぐ入ってこない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入金は“2ヶ月後”だったりする。でも仕入れの支払いは先に来る。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6382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16382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406140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3878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3163824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次も売れるよう、在庫を抱える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棚に7万円分が“寝てる”。お金が物に化けて、動かへん。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つまり、売れるほど、入金待ちと在庫で、手元の現金が先に出ていく＝「儲かるほど金が足りなくなる」の正体。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前半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2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帳簿は黒字でも、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2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通帳は減っていく。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利益が出てるのに資金が尽きて潰れる＝黒字倒産。「勘定合って銭足らず」。社長自身、気づいてないか、言葉にできていないことが多い。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前半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6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だから社長は“黒字なのに不安” ― 相談役の席が空いている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4884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「利益は出てるはずやのに、なんでこんなに金繰りが苦しいんや」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社長が夜中にふと不安になるのは、たいていこれ。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0954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0954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0954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それを安心して相談できる相手が、隣にいない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税理士は“終わった数字”をまとめてくれる大事な人。でも未来のお金までは手が回らない。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7024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7024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7024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「この先どうお金を残すか」を一緒に見る席が、ぽっかり空いている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後半で、その席の座り方を話します（＝今日のゴール①）。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後半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じゃあ、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“お金が残る”ってどういうこと？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難しい用語ゼロで、1枚の絵にして持って帰ってもらいます。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お金の地図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お金の地図 ① 売上（いちばん上の箱）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1659636"/>
          </a:xfrm>
          <a:prstGeom prst="rect">
            <a:avLst/>
          </a:prstGeom>
          <a:solidFill>
            <a:srgbClr val="DC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1659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174236"/>
            <a:ext cx="2103120" cy="1357884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174236"/>
            <a:ext cx="1956815" cy="1357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5A2E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174236"/>
            <a:ext cx="2103120" cy="1025956"/>
          </a:xfrm>
          <a:prstGeom prst="rect">
            <a:avLst/>
          </a:prstGeom>
          <a:solidFill>
            <a:srgbClr val="CD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174236"/>
            <a:ext cx="1956815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D4A66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200192"/>
            <a:ext cx="2103120" cy="331927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053888"/>
            <a:ext cx="2194560" cy="6245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633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お金の地図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お金の地図 ② 変動費（ヨソに素通り）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CD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D4A66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1659636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1659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174236"/>
            <a:ext cx="2103120" cy="1357884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174236"/>
            <a:ext cx="1956815" cy="1357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5A2E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174236"/>
            <a:ext cx="2103120" cy="1025956"/>
          </a:xfrm>
          <a:prstGeom prst="rect">
            <a:avLst/>
          </a:prstGeom>
          <a:solidFill>
            <a:srgbClr val="CD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174236"/>
            <a:ext cx="1956815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D4A66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200192"/>
            <a:ext cx="2103120" cy="331927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053888"/>
            <a:ext cx="2194560" cy="6245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633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お金の地図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お金の地図 ③ 粗利（実際に会社に入る分）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CD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D4A66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1659636"/>
          </a:xfrm>
          <a:prstGeom prst="rect">
            <a:avLst/>
          </a:prstGeom>
          <a:solidFill>
            <a:srgbClr val="DC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1659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174236"/>
            <a:ext cx="2103120" cy="135788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174236"/>
            <a:ext cx="1956815" cy="1357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174236"/>
            <a:ext cx="2103120" cy="1025956"/>
          </a:xfrm>
          <a:prstGeom prst="rect">
            <a:avLst/>
          </a:prstGeom>
          <a:solidFill>
            <a:srgbClr val="CD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174236"/>
            <a:ext cx="1956815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D4A66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200192"/>
            <a:ext cx="2103120" cy="331927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053888"/>
            <a:ext cx="2194560" cy="6245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633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お金の地図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お金の地図 ④ 固定費を引いて、最後に“残り”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CDD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3D4A66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1659636"/>
          </a:xfrm>
          <a:prstGeom prst="rect">
            <a:avLst/>
          </a:prstGeom>
          <a:solidFill>
            <a:srgbClr val="DC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1659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174236"/>
            <a:ext cx="2103120" cy="1357884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174236"/>
            <a:ext cx="1956815" cy="1357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5A2E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174236"/>
            <a:ext cx="2103120" cy="1025956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174236"/>
            <a:ext cx="1956815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200192"/>
            <a:ext cx="2103120" cy="331927"/>
          </a:xfrm>
          <a:prstGeom prst="rect">
            <a:avLst/>
          </a:prstGeom>
          <a:solidFill>
            <a:srgbClr val="EA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053888"/>
            <a:ext cx="2194560" cy="6245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633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お金の地図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お金の地図（全体）― どこを動かせば、お金が残るか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1659636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1659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174236"/>
            <a:ext cx="2103120" cy="135788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174236"/>
            <a:ext cx="1956815" cy="1357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174236"/>
            <a:ext cx="2103120" cy="1025956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174236"/>
            <a:ext cx="1956815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200192"/>
            <a:ext cx="2103120" cy="331927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053888"/>
            <a:ext cx="2194560" cy="6245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633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用語の後出し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勘のいい方は、もう気づいてるかも。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いま見た“お金の地図”、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実は――会社の「決算書」の話です。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決算書はざっくり3枚の紙。名前は覚えなくていい。役割と、つながりだけ、イメージで掴んでください。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1枚目：1年の成績表 ― 実は「損益計算書」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85216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91440" cy="34747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6576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26898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たとえ＝1年間の“成績表”／1年分の家計簿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6177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422910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さっきの“お金の地図”の、いちばん近い親戚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68880"/>
            <a:ext cx="4297680" cy="347472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246888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38328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損益計算書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84048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PL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516636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1年でなんぼ売って、なんぼ残ったか（1年間の“ビデオ映像”）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7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損益計算書（PL）の中身 ― 売上 → 経費 → もうけ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中身は単純。お金の地図と、おんなじ動き。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8036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8036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売上があって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41063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941063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941063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そこから、いろんな経費を引いていって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0176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00176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500176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最後に“もうけ（利益）”が残る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「売上1億、経費9千万、残り1千万」みたいに、1年走った結果の数字。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8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2枚目：今の財産のスナップ写真 ― 実は「貸借対照表」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85216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91440" cy="34747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6576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26898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たとえ＝今の財産の“スナップ写真”／会社の健康診断書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6177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422910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PLが“1年のビデオ”なら、BSは“今この一瞬の写真”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期間と一点、ここが対。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68880"/>
            <a:ext cx="4297680" cy="347472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246888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38328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貸借対照表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84048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516636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今この一瞬、いくら持って・いくら借りてるか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貸借対照表（BS）の中身 ― 持ってる・借りてる・自分のもん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中身は3つだけ。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8036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8036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持ってるもの（資産）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41063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941063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941063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借りてるもの（負債）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0176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00176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500176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差し引き、自分のもん（純資産）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「1億持ってて、借入6千万、残り4千万が自分のもん」。これが今の財産の写真。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4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3枚目：現金の出入り＝通帳 ― 実は「キャッシュフロー計算書」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85216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91440" cy="34747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6576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26898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「黒字なのに通帳が減る」を映すのが、これ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6177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422910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今日の“黒字なのに金がない”に、いちばん効くやつ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68880"/>
            <a:ext cx="4297680" cy="347472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246888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38328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キャッシュフロー計算書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84048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516636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現金が、実際にどう出入りしたか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利益とお金は、別もの ― 通帳（CF）で正体が見える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ここがミソ ― 利益とお金は、別もの。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8036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8036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成績表（PL）では、1千万のもうけ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41063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941063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941063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でも通帳（CF）では、入金待ちと返済で現金が減ってる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だから3枚目の通帳を見ると、「儲かってるのに金がない」の正体が見える。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財務三表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3枚の役割 ― 成績表／写真／通帳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この3つの役割がイメージできたら、決算書はもう“ようわからん紙”じゃない。完璧に読める必要はゼロ。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0896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089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41985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01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23359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PL ＝ 1年の成績表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1年間のビデオ映像。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0080" y="310896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0080" y="31089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24399" y="341985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4399" y="3401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399" y="4023359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BS ＝ 今の財産の写真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会社の健康診断。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1480" y="310896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1480" y="31089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5800" y="341985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5800" y="3401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4023359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CF ＝ 通帳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現金の出入り。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三表の繋がり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3枚は“バラバラ”じゃない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― 実は、1本に繋がってる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順番に、線で結んでいきます。ここからが、今日のハイライト。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三表の繋がり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三表連動図 ① ― まず、3枚を並べる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476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損益計算書（PL）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03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売上高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1920240" cy="13258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186537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売上総利益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1920240" cy="45720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営業利益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1920240" cy="4114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297680"/>
            <a:ext cx="186537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経常利益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09160"/>
            <a:ext cx="192024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09160"/>
            <a:ext cx="18653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当期純利益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47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キャッシュフロー計算書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743200"/>
            <a:ext cx="1554480" cy="7315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43200"/>
            <a:ext cx="149961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営業CF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474720"/>
            <a:ext cx="1554480" cy="640080"/>
          </a:xfrm>
          <a:prstGeom prst="rect">
            <a:avLst/>
          </a:prstGeom>
          <a:solidFill>
            <a:srgbClr val="D9B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投資CF 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114800"/>
            <a:ext cx="1554480" cy="6400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411480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財務CF 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資産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負債・純資産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0370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貸借対照表（BS）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514600"/>
            <a:ext cx="1965960" cy="6400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2514600"/>
            <a:ext cx="19110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現金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154680"/>
            <a:ext cx="1965960" cy="82296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3154680"/>
            <a:ext cx="19110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流動資産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77639"/>
            <a:ext cx="1965960" cy="123444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3977639"/>
            <a:ext cx="19110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固定資産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8552" y="2514600"/>
            <a:ext cx="1965960" cy="77724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2514600"/>
            <a:ext cx="19110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流動負債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88552" y="3291840"/>
            <a:ext cx="1965960" cy="91440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3291840"/>
            <a:ext cx="19110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固定負債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8552" y="4206240"/>
            <a:ext cx="1965960" cy="50292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420624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純資産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8552" y="4709160"/>
            <a:ext cx="196596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470916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利益剰余金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三表の繋がり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三表連動図 ② ― 当期純利益 → 利益剰余金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476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損益計算書（PL）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03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売上高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1920240" cy="13258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186537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売上総利益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1920240" cy="45720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営業利益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1920240" cy="4114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297680"/>
            <a:ext cx="186537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経常利益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09160"/>
            <a:ext cx="192024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09160"/>
            <a:ext cx="18653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当期純利益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47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キャッシュフロー計算書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743200"/>
            <a:ext cx="1554480" cy="7315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43200"/>
            <a:ext cx="149961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営業CF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474720"/>
            <a:ext cx="1554480" cy="640080"/>
          </a:xfrm>
          <a:prstGeom prst="rect">
            <a:avLst/>
          </a:prstGeom>
          <a:solidFill>
            <a:srgbClr val="D9B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投資CF 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114800"/>
            <a:ext cx="1554480" cy="6400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411480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財務CF 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資産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負債・純資産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0370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貸借対照表（BS）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514600"/>
            <a:ext cx="1965960" cy="6400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2514600"/>
            <a:ext cx="19110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現金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154680"/>
            <a:ext cx="1965960" cy="82296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3154680"/>
            <a:ext cx="19110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流動資産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77639"/>
            <a:ext cx="1965960" cy="123444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3977639"/>
            <a:ext cx="19110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固定資産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8552" y="2514600"/>
            <a:ext cx="1965960" cy="77724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2514600"/>
            <a:ext cx="19110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流動負債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88552" y="3291840"/>
            <a:ext cx="1965960" cy="91440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3291840"/>
            <a:ext cx="19110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固定負債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8552" y="4206240"/>
            <a:ext cx="1965960" cy="50292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420624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純資産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8552" y="4709160"/>
            <a:ext cx="196596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470916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利益剰余金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852928" y="4960620"/>
            <a:ext cx="6117336" cy="0"/>
          </a:xfrm>
          <a:prstGeom prst="line">
            <a:avLst/>
          </a:prstGeom>
          <a:ln w="34925">
            <a:solidFill>
              <a:srgbClr val="D58A3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58A36"/>
                </a:solidFill>
                <a:latin typeface="Noto Sans CJK JP"/>
                <a:ea typeface="Noto Sans CJK JP"/>
                <a:cs typeface="Noto Sans CJK JP"/>
              </a:rPr>
              <a:t>① 当期純利益 → 利益剰余金（儲けは“純資産”に積み上がる）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三表の繋がり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三表連動図 ③ ― CFの現金 → BSの現金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476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損益計算書（PL）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03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売上高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1920240" cy="13258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186537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売上総利益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1920240" cy="45720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営業利益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1920240" cy="4114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297680"/>
            <a:ext cx="186537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経常利益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09160"/>
            <a:ext cx="192024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09160"/>
            <a:ext cx="18653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当期純利益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47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キャッシュフロー計算書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743200"/>
            <a:ext cx="1554480" cy="7315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43200"/>
            <a:ext cx="149961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営業CF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474720"/>
            <a:ext cx="1554480" cy="640080"/>
          </a:xfrm>
          <a:prstGeom prst="rect">
            <a:avLst/>
          </a:prstGeom>
          <a:solidFill>
            <a:srgbClr val="D9B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投資CF 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114800"/>
            <a:ext cx="1554480" cy="6400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411480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財務CF 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資産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負債・純資産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0370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貸借対照表（BS）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514600"/>
            <a:ext cx="1965960" cy="6400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2514600"/>
            <a:ext cx="19110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現金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154680"/>
            <a:ext cx="1965960" cy="82296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3154680"/>
            <a:ext cx="19110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流動資産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77639"/>
            <a:ext cx="1965960" cy="123444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3977639"/>
            <a:ext cx="19110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固定資産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8552" y="2514600"/>
            <a:ext cx="1965960" cy="77724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2514600"/>
            <a:ext cx="19110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流動負債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88552" y="3291840"/>
            <a:ext cx="1965960" cy="91440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3291840"/>
            <a:ext cx="19110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固定負債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8552" y="4206240"/>
            <a:ext cx="1965960" cy="50292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420624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純資産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8552" y="4709160"/>
            <a:ext cx="196596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470916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利益剰余金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852928" y="4960620"/>
            <a:ext cx="6117336" cy="0"/>
          </a:xfrm>
          <a:prstGeom prst="line">
            <a:avLst/>
          </a:prstGeom>
          <a:ln w="34925">
            <a:solidFill>
              <a:srgbClr val="D58A3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58A36"/>
                </a:solidFill>
                <a:latin typeface="Noto Sans CJK JP"/>
                <a:ea typeface="Noto Sans CJK JP"/>
                <a:cs typeface="Noto Sans CJK JP"/>
              </a:rPr>
              <a:t>① 当期純利益 → 利益剰余金（儲けは“純資産”に積み上がる）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093207" y="2834640"/>
            <a:ext cx="1746505" cy="274320"/>
          </a:xfrm>
          <a:prstGeom prst="line">
            <a:avLst/>
          </a:prstGeom>
          <a:ln w="34925">
            <a:solidFill>
              <a:srgbClr val="2E6FB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6FB0"/>
                </a:solidFill>
                <a:latin typeface="Noto Sans CJK JP"/>
                <a:ea typeface="Noto Sans CJK JP"/>
                <a:cs typeface="Noto Sans CJK JP"/>
              </a:rPr>
              <a:t>② キャッシュフローの現金 → BSの“現金”（残った現金は一致する）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三表の繋がり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7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三表連動図 ④ ― 追うのは“利益”と“現金”の2本だけ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476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損益計算書（PL）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03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売上高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1920240" cy="13258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1865376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売上総利益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1920240" cy="45720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営業利益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1920240" cy="41148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297680"/>
            <a:ext cx="186537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経常利益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09160"/>
            <a:ext cx="192024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09160"/>
            <a:ext cx="18653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当期純利益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47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キャッシュフロー計算書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743200"/>
            <a:ext cx="1554480" cy="7315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743200"/>
            <a:ext cx="149961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営業CF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3474720"/>
            <a:ext cx="1554480" cy="640080"/>
          </a:xfrm>
          <a:prstGeom prst="rect">
            <a:avLst/>
          </a:prstGeom>
          <a:solidFill>
            <a:srgbClr val="D9B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47472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投資CF 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114800"/>
            <a:ext cx="1554480" cy="6400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4114800"/>
            <a:ext cx="149961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財務CF 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資産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1947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負債・純資産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0370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貸借対照表（BS）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514600"/>
            <a:ext cx="1965960" cy="6400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2514600"/>
            <a:ext cx="19110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現金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154680"/>
            <a:ext cx="1965960" cy="82296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3154680"/>
            <a:ext cx="19110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流動資産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77639"/>
            <a:ext cx="1965960" cy="123444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3977639"/>
            <a:ext cx="191109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固定資産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8552" y="2514600"/>
            <a:ext cx="1965960" cy="77724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5984" y="2514600"/>
            <a:ext cx="19110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流動負債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88552" y="3291840"/>
            <a:ext cx="1965960" cy="914400"/>
          </a:xfrm>
          <a:prstGeom prst="rect">
            <a:avLst/>
          </a:prstGeom>
          <a:solidFill>
            <a:srgbClr val="B9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3291840"/>
            <a:ext cx="19110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固定負債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8552" y="4206240"/>
            <a:ext cx="1965960" cy="502920"/>
          </a:xfrm>
          <a:prstGeom prst="rect">
            <a:avLst/>
          </a:prstGeom>
          <a:solidFill>
            <a:srgbClr val="AAB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420624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純資産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8552" y="4709160"/>
            <a:ext cx="1965960" cy="502920"/>
          </a:xfrm>
          <a:prstGeom prst="rect">
            <a:avLst/>
          </a:prstGeom>
          <a:solidFill>
            <a:srgbClr val="D5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4709160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利益剰余金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852928" y="4960620"/>
            <a:ext cx="6117336" cy="0"/>
          </a:xfrm>
          <a:prstGeom prst="line">
            <a:avLst/>
          </a:prstGeom>
          <a:ln w="34925">
            <a:solidFill>
              <a:srgbClr val="D58A3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58A36"/>
                </a:solidFill>
                <a:latin typeface="Noto Sans CJK JP"/>
                <a:ea typeface="Noto Sans CJK JP"/>
                <a:cs typeface="Noto Sans CJK JP"/>
              </a:rPr>
              <a:t>① 当期純利益 → 利益剰余金（儲けは“純資産”に積み上がる）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093207" y="2834640"/>
            <a:ext cx="1746505" cy="274320"/>
          </a:xfrm>
          <a:prstGeom prst="line">
            <a:avLst/>
          </a:prstGeom>
          <a:ln w="34925">
            <a:solidFill>
              <a:srgbClr val="2E6FB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6FB0"/>
                </a:solidFill>
                <a:latin typeface="Noto Sans CJK JP"/>
                <a:ea typeface="Noto Sans CJK JP"/>
                <a:cs typeface="Noto Sans CJK JP"/>
              </a:rPr>
              <a:t>② キャッシュフローの現金 → BSの“現金”（残った現金は一致する）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後半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8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なぜ、FPのチャンスなのか ― 税理士は“過去の整理”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4884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税理士は“終わった数字”を整理してくれる、大事な人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0954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0954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0954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でも、忙しい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「この先どうお金を残すか」を社長の隣で一緒に考える――そこまで手が回る先生は、正直そんなに多くない。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後半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「これから、どうお金を残すか」を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社長の隣で見る席が、空いている。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皆さんが、お金の地図と“2本の繋がり”を片手に、その席に座れたら、どうなると思います？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1 ・ 後半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お金の残し方を語れれば、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保険は“向こうから”やってくる。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売り込むのでなく、お金の残し方を一緒に考えたら、必要なものとして保険が出てくる。ここに座れたら、保険の話は“向こうから”やってくる。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本日のゴール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今日のゴール、3行で。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社長が怖いのは、赤字より“黒字なのに金がない”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これは“敵”じゃなく“チャンス”。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00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00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4399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399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399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お金の残し方を語れれば、相談役の席に座れる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保険は後から“結果”でついてくる。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14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14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決算書は完璧に読まなくていい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3枚の役割と、“利益と現金”の2本の繋がりが分かれば、社長と対等に話せる。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クロージング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着席特典のお渡し ― 繋がりPDF ＋ 3点セット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9456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9456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9456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着席＝「財務三表の“繋がり”理解PDF」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今日の連動図を1枚に。20:10入室＋スタンプの方へ。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55263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55263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55263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完走者には“会いに行く3点セット”も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①経営者との“会い方”ガイド ②勘定科目の一覧表 ③決算書の“預かり方”フレーズ集。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配布はFacebookグループでご案内します。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1 ・ 今日の課題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今日の課題（Facebookグループへ）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明日までに、非公開グループに2つ投稿。手を動かした人から、相談役に近づく。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54679"/>
            <a:ext cx="509777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54679"/>
            <a:ext cx="5097779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46557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472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69079"/>
            <a:ext cx="45491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身近な社長の「黒字なのに苦しそう」を1つ観察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“忙しいのに金が残ってなさそう”を書く。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79" y="3154679"/>
            <a:ext cx="509777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779" y="3154679"/>
            <a:ext cx="5097779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5099" y="346557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099" y="34472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099" y="4069079"/>
            <a:ext cx="45491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今日の“お金の地図と3枚の繋がり”を自分の言葉で1つ説明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「もうけは純資産に積む、現金は通帳と一致……」でOK。完璧じゃなくていい。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1  —  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次回予告 ― DAY 2（7/16 木 20:00）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実際の決算書を1枚出して、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“自分で読んで分析できる”ようになる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「全部読まない、見るのはたった4か所」。その読み方の“型”を、まるごとお渡しします。7/16(木) 20:00。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1  —  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Day1 黒字なのに、金が残らない</dc:title>
  <dc:subject/>
  <dc:creator>大吉塾 / 藤山泰成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