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カメラ目線で少し前のめり。最初の30秒は表情をやわらかく）みなさん、こんばんは。フジヤマです。3日間チャレンジ、2日目へようこそ。今日も20時、お忙しい中ありがとうございます。昨日のDay1、覚えていますか。――社長が一番こわいのは“赤字”より、“黒字なのに、お金が残らない”。そして決算書は、お金の地図と“利益”と“現金”の2本で、ぜんぶ1本に繋がってましたね。今日はその続き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昨日が“気づき”なら、今日は“実技”です。今日のゴールはひとつ。今日が終わったら、皆さん、決算書を自分で読んで、“分析”できるようになります。『えっ、決算書を読むって難しそう……』。大丈夫です。全部読む必要、ありません。社長と話すために見るのは、たった4か所。それを“この順で、数字をこう読む”――それだけ。私が一枚の決算書で実際にやってみせて、皆さんが真似できる“型”にして持って帰ってもらい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チャット欄を指さす）先にお知らせを。今日も着席特典があります。20:10までに入室＋チャットにスタンプの方に、終了後プレゼントします。中身は『決算書の読み方ガイド』――今日やる“どこを・どの順で見るか”を1枚に。さらに『経営者に刺さる質問集（お金の残し方版）』も付けます。明日にでも使えます。まだの方はいま、チャットにスタンプを。――ありがとうございます。では、今日の主役、この一社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サンプル建設さん（仮）。社長62歳、創業30年、従業員18名の内装・リフォーム会社。後継ぎは長男の専務、35歳。この社長、決算書は税理士さんに丸投げで『説明はされるけど、正直よく分かっていない』。昨日言った“黒字なのに金が残らない、でも聞ける相手がいない社長”、まさにこの人です。では、その決算書を自分で読んで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4か所を上から順に指差す。“順番”が大事だと強調）今日いちばん持って帰ってほしい“読み方の型”です。決算書って分厚いでしょ。でも社長と話すために見るのは、たった4か所。しかもこの順で。①現金――そもそもお金が残ってるか。②お金の地図（粗利）――お金が“残る構造”になってるか。③借入と返済――利益に出てこない、静かに消えるお金。④役員まわり――資金繰りの“痕跡”。この4か所を順番に見て、数字をこう読む――それだけで『この会社、どこでお金が漏れてるか』が分析できます。やって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お金の地図に数字を順に置く）①現金は30――3千万。これは“そもそも残ってるか”の数字。覚えときます。次に②お金の地図。売上は320（3億2千万）。材料や外注でヨソに素通りするのが250。残る粗利が70。ここから人件費・家賃を55引いて、残りは15。見方はこうです。残り15＝黒字。ちゃんと残ってる“構造”なんです。なのに、現金は30しかない。……この“黒字なのに現金が薄い”ギャップ、ここから③④で正体を暴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最後の儲け＝当期純利益は8（8百万のプラス）。なのに手元の現金は30だけ。この差を、こう読みます。お金が“利益”のかたちでは出てるのに、現金になってない。どこに化けてるか。売掛金40（まだ入ってない売上）、棚卸10（在庫）、そして借入70の返済。――これが現金を薄くしてる犯人です。一個ずつ“数字＋見方”で見てい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売掛金40。見方＝『売上は立ったけど、まだ入金されてないお金』。建設は工事完了から入金まで時間がかかる。40も会社の外で寝てる。ここが大きいほど、売上が伸びるほど現金は逆に苦しくなる――と読み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棚卸10。見方＝材料や、まだ完成してない現場（未成工事）に、お金が“モノ”に化けて眠ってる。これも現金じゃない。売掛40＋棚卸10で、50が現金になってない――と数えられます。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借入は70（短期20＋長期50）。ここが一番の見落としポイント。見方＝借りた元本を返すお金は、決算書の利益のところには出てこないんです。でも毎月ちゃんと出ていく。だから“利益は出てるのに、通帳は減る”。社長が一番モヤモヤしてるのは、たいていこ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④役員まわり。役員借入金20。見方＝『社長が、自分のお金を会社に入れた』跡。過去に会社の金が足りなくて社長が自腹を切ったってこと。これが残ってる時点で、『この会社、普段から資金繰りカツカツやな』と読めます。※この役員借入金20、実は銀行の見方では強い意味を持つんですが、それは“提案”のところ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まとめます。いま私がやったの、現金30・粗利70/残り15・借入70・役員借入20の4か所を順に見て、『どこでお金が漏れてるか』を言葉にしただけ。これが“決算書を読んで分析する”ということです。難しい計算は一個もしてない。専門用語も覚えてない。4か所・この順・数字をこう読む――それだけ。皆さん、もう読めます。そして社長は、これを言える人をずっと探して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読んで漏れの目星がついた。次は“聞く”です。誤解してほしくないのは、質問を丸暗記して順番に投げるんやないということ。さっき“読む”で立てた仮説――『入金が遅いんちゃうか』『返済が重いんちゃうか』――この仮説を、社長に確かめる形で聞く。実際こう聞き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（動作：社長役に語りかけるように、少し声をやわらげて）読んだ“売掛40”から、一つめ。『社長、売上が立っても、入金は何ヶ月先ですか？ その間の支払いは、何で回してはります？』――数字を読んでるから、刺さるんです。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二つめ、棚卸10から。『材料とか、進行中の現場に、常にどれくらいお金が寝てる感じですか？』 三つめ、借入70から。『毎月の借入返済、利益のうちどれくらい持っていかれてますか？ これ、決算書の利益には出てこないんですよ。』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四つめ、役員借入20から。『この役員借入金、社長がご自身で会社に入れたお金ですよね？ 普段、資金が足りない場面、ありませんか？』――読んだ数字を、確かめる質問に変えるだけ。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四つで、ひとつでも『えっ、なんで分かるん』『それ、知らんかった』が出たら、勝ちです。社長は前のめりになる。『この人、税理士も言ってくれへんことを言うてくれた』と。そこで相談役のポジションが取れる。この四つの型、着席特典の“質問集”でそのままお渡し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聞いて、漏れの仮説が当たった。社長が『たしかにそうや、どうしたら？』となった。ここで初めて提案です。ただし――今日は“方向性”まで。その場で商品を設計してクロージングする話やない。社長の課題を、お金が残る方向に翻訳してあげる。それが相談役の提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たとえば、社長に万一のとき、この借入70は誰が返すのか。専務にいきなりのしかかったら。――だったら事業保障の保険で穴を埋める。退職金の準備が薄いなら保険で備える。社長の“お金が残らない悩み”を解く流れの中に、自然に保険が入ってくる。ただの保険販売じゃないん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が相談役の本当の強みです。保険を一個も売らずに、社長に価値を出す手があるんですよ。さっきの役員借入金20。社長が会社に貸してるお金ですよね。実は銀行の格付では、これを“資本とみなして”見てくれる場合がある。会社の体力が、見た目より強く評価される。これを教えるだけで『この人、銀行のことまで分かってる』となる。逆に、決算書に役員貸付金や仮払金――会社から社長へ出たまま戻ってないお金――があったら、銀行はそれを一番嫌う。消すだけで格付の印象が変わる。※これは一般的な情報提供です。実際の判断は御社の数字次第なので、税理士さん・銀行と確認しましょうね、と必ず添える。【要・税理士／金融機関確認】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順番が大事です。先に、お金が残る価値を渡す。信頼が生まれる。保険は、その後から、必要なものとして出てくる。売り込みじゃない。これが相談役の提案です。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こまでで、お金の漏れを止めて残る会社に変えていく話をしました。実はこれ、入口なんです。お金が見える社長とは、次にもっと大きいテーマ――退職金、相続、会社を息子さんに渡す事業承継・自社株――の話になります。個人保険とは契約の桁がひとつ変わる世界です。ただ、ここから先は本当に難しい。だから今日はさわりだけ。深いところは、明日のDay3で。※相続・承継・税務は一般的な情報提供にとどめ、個別は税理士へ、が大原則で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――どうでしたか。今日、一枚の決算書を、4か所・この順・数字をこう読んで、漏れを分析して、社長に語る質問まで作りました。もう、決算書が読めるんです。これができたら、法人で食えます。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案内を二つ。着席特典＝『決算書の読み方ガイド』＋『質問集』。20:10入室＋スタンプの方に、終了後Facebookグループでお渡し。今日の課題、Facebookグループに投稿してください。①今日のサンプル建設の決算書から、“お金の漏れ”を一つ見つけて、そこから仮説を一つ。私が見せた以外でも大歓迎。②身近な経営者を一人、“相談役”としてどうアプローチするか。今日の流れを当てはめて。提出者にはフィードバックしま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チャットを拾いながら、回答は短く。難所は「いい質問です。それ、明日Day3の“面談から契約までの流れ”で扱います」と自然にDay3へ送る）では質疑。今日の決算書、お金の漏れ、読み方、なんでもどうぞ。</a:t>
            </a:r>
          </a:p>
          <a:p>
            <a:r>
              <a:t>想定Q&amp;A（講師用メモ）：・「会計が苦手でもできる？」→「今日、難しい計算を一度もしていません。4か所を順に読むだけ」・「役員借入が資本とみなされるって必ず？」→「あくまで一般論。銀行・状況による。だから“確認しましょう”と添えるのが誠実。断定はしない」・「既存の個人客にどう切り出す？」→課題②に接続。「身近な社長から。明日もう少し触れます」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（動作：明るく、まっすぐカメラへ）最後に、明日の予告です。Day1で“なぜ”、Day2で“決算書の読み方”を手に入れました。明日のDay3は、いよいよ「初回面談から、“契約”までの流れ」をまるごとお見せします。社長に初めて会って、どう入って、何を聞いて、保険をどう活用して、最後に契約までどう持っていくか。私が一本通しで実演します。正直、ここまで来たら『この流れで、自分も社長に会いに行ける』と思ってもらえるはず。Day3、7月18日土曜の20時。また会いましょう。今日の課題、お待ちしてます。フジヤマでし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7863840" y="3017520"/>
            <a:ext cx="5852160" cy="5852160"/>
          </a:xfrm>
          <a:prstGeom prst="ellipse">
            <a:avLst/>
          </a:prstGeom>
          <a:noFill/>
          <a:ln w="330200">
            <a:solidFill>
              <a:srgbClr val="1B2A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86968" y="1517904"/>
            <a:ext cx="502920" cy="41148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86968" y="170078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1" i="0" spc="30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2 ― HOW：決算書の読み方→分析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10515600" cy="2468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3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決算書は、こう読む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33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― 4か所を順に見て、お金の漏れを“分析”する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6968" y="4846320"/>
            <a:ext cx="9784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昨日が“気づき”なら、今日は“実技”。今日で、決算書を自分で読んで分析できるようになる。</a:t>
            </a:r>
          </a:p>
        </p:txBody>
      </p:sp>
      <p:sp>
        <p:nvSpPr>
          <p:cNvPr id="8" name="Rectangle 7"/>
          <p:cNvSpPr/>
          <p:nvPr/>
        </p:nvSpPr>
        <p:spPr>
          <a:xfrm>
            <a:off x="886968" y="5852160"/>
            <a:ext cx="2377440" cy="2286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5989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50" b="0" i="0">
                <a:solidFill>
                  <a:srgbClr val="C7CEDC"/>
                </a:solidFill>
                <a:latin typeface="Noto Sans CJK JP"/>
                <a:ea typeface="Noto Sans CJK JP"/>
                <a:cs typeface="Noto Sans CJK JP"/>
              </a:rPr>
              <a:t>2026.7.16 (木) 20:00–21:00　／　ZOOMライブ配信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2  —  01 / 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2 ・ 今日の約束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Aft>
                <a:spcPts val="1400"/>
              </a:spcAft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全部読む必要はありません。見るのは、たった4か所。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今日で、決算書を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38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“自分で読んで分析できる”ように。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それを“この順で・数字をこう読む”だけ。私が一枚の決算書で実演し、皆さんが真似できる“型”にして持って帰ってもらいます。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2  —  02 / 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着席特典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着席特典：決算書の読み方ガイド ＋ 質問集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585216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77440"/>
            <a:ext cx="91440" cy="356616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13182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74320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着席＝「決算書の読み方ガイド」（どこを・どの順で見るか1枚）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09194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70332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セット＝「経営者に刺さる質問集（お金の残し方版）」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05206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663440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20:10入室＋スタンプの方へ、終了後にプレゼント。明日にでも使える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377440"/>
            <a:ext cx="4297680" cy="356616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7744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9184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入室＋スタンプ 締切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49039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6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20:10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07492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“4か所をこの順で”の読み方ガイド＋刺さる質問集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03 / 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ケース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サンプル建設株式会社（仮）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今日の主役。昨日言った“黒字なのに金が残らない、でも聞ける相手がいない社長”そのもの。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80360"/>
            <a:ext cx="10469880" cy="6560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880360"/>
            <a:ext cx="82296" cy="65608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880360"/>
            <a:ext cx="9902951" cy="6560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業種：建設業（内装・リフォーム）／従業員18名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682746"/>
            <a:ext cx="10469880" cy="6560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682746"/>
            <a:ext cx="82296" cy="65608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682746"/>
            <a:ext cx="9902951" cy="6560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社長62歳・創業30年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" y="4485132"/>
            <a:ext cx="10469880" cy="6560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8680" y="4485132"/>
            <a:ext cx="82296" cy="65608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4485132"/>
            <a:ext cx="9902951" cy="6560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後継ぎ＝長男（専務）35歳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" y="5287518"/>
            <a:ext cx="10469880" cy="65608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68680" y="5287518"/>
            <a:ext cx="82296" cy="65608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61288" y="5287518"/>
            <a:ext cx="9902951" cy="6560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決算書は税理士に丸投げ ＝「説明はされるが、正直よく分かっていない」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04 / 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①読む（型）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決算書の読み方の“型” ― 全部読まない。4か所を、この順で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分厚い決算書も、社長と話すのに見るのは“この4か所”だけ。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788920"/>
            <a:ext cx="10469880" cy="7063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788920"/>
            <a:ext cx="82296" cy="70637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2944368"/>
            <a:ext cx="395477" cy="395477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2926080"/>
            <a:ext cx="395477" cy="3954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31086" y="2788920"/>
            <a:ext cx="9233153" cy="7063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現金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そもそも、お金が残ってるか。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3605022"/>
            <a:ext cx="10469880" cy="7063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3605022"/>
            <a:ext cx="82296" cy="70637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61288" y="3760470"/>
            <a:ext cx="395477" cy="395477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61288" y="3742182"/>
            <a:ext cx="395477" cy="3954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31086" y="3605022"/>
            <a:ext cx="9233153" cy="7063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お金の地図（粗利）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昨日のやつ。お金が“残る構造”になってるか。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68680" y="4421124"/>
            <a:ext cx="10469880" cy="7063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68680" y="4421124"/>
            <a:ext cx="82296" cy="70637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61288" y="4576572"/>
            <a:ext cx="395477" cy="395477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61288" y="4558284"/>
            <a:ext cx="395477" cy="3954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31086" y="4421124"/>
            <a:ext cx="9233153" cy="7063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借入と返済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利益に出てこない、静かに消えるお金。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" y="5237226"/>
            <a:ext cx="10469880" cy="70637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68680" y="5237226"/>
            <a:ext cx="82296" cy="70637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161288" y="5392674"/>
            <a:ext cx="395477" cy="395477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61288" y="5374386"/>
            <a:ext cx="395477" cy="3954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31086" y="5237226"/>
            <a:ext cx="9233153" cy="7063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役員まわり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資金繰りの“痕跡”。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05 / 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①読む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① 現金 ＋ お金の地図に置く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4560" y="2514600"/>
            <a:ext cx="2103120" cy="30175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67712" y="2514600"/>
            <a:ext cx="1956815" cy="3017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売上</a:t>
            </a:r>
          </a:p>
          <a:p>
            <a:pPr algn="ctr"/>
            <a:r>
              <a:rPr sz="12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320百万円</a:t>
            </a:r>
          </a:p>
        </p:txBody>
      </p:sp>
      <p:sp>
        <p:nvSpPr>
          <p:cNvPr id="7" name="Rectangle 6"/>
          <p:cNvSpPr/>
          <p:nvPr/>
        </p:nvSpPr>
        <p:spPr>
          <a:xfrm>
            <a:off x="4800599" y="2514600"/>
            <a:ext cx="2103120" cy="2357437"/>
          </a:xfrm>
          <a:prstGeom prst="rect">
            <a:avLst/>
          </a:prstGeom>
          <a:solidFill>
            <a:srgbClr val="9AA0AE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73751" y="2514600"/>
            <a:ext cx="1956815" cy="235743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変動費</a:t>
            </a:r>
          </a:p>
          <a:p>
            <a:pPr algn="ctr"/>
            <a:r>
              <a:rPr sz="12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250百万円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599" y="4872037"/>
            <a:ext cx="2103120" cy="660082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73751" y="4872037"/>
            <a:ext cx="1956815" cy="6600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5000"/>
              </a:lnSpc>
            </a:pPr>
            <a:r>
              <a:rPr sz="1600" b="1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粗利</a:t>
            </a:r>
          </a:p>
          <a:p>
            <a:pPr algn="ctr"/>
            <a:r>
              <a:rPr sz="1250" b="0" i="0">
                <a:solidFill>
                  <a:srgbClr val="1B2A4A"/>
                </a:solidFill>
                <a:latin typeface="Noto Sans CJK JP"/>
                <a:ea typeface="Noto Sans CJK JP"/>
                <a:cs typeface="Noto Sans CJK JP"/>
              </a:rPr>
              <a:t>70百万円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4872037"/>
            <a:ext cx="2103120" cy="518636"/>
          </a:xfrm>
          <a:prstGeom prst="rect">
            <a:avLst/>
          </a:prstGeom>
          <a:solidFill>
            <a:srgbClr val="33405C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9792" y="4872037"/>
            <a:ext cx="1956815" cy="51863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固定費</a:t>
            </a:r>
            <a:r>
              <a:rPr sz="1150" b="0" i="0">
                <a:solidFill>
                  <a:srgbClr val="FFFFFF"/>
                </a:solidFill>
                <a:latin typeface="Noto Sans CJK JP"/>
                <a:ea typeface="Noto Sans CJK JP"/>
                <a:cs typeface="Noto Sans CJK JP"/>
              </a:rPr>
              <a:t>  55百万円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5390673"/>
            <a:ext cx="2103120" cy="14144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7" y="5244369"/>
            <a:ext cx="2194560" cy="434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残り</a:t>
            </a:r>
            <a:r>
              <a:rPr sz="120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  15百万円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79" y="2185416"/>
            <a:ext cx="26517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↑ ヨソに素通り（仕入・材料）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4561141"/>
            <a:ext cx="21031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 i="0">
                <a:solidFill>
                  <a:srgbClr val="5A6173"/>
                </a:solidFill>
                <a:latin typeface="Noto Sans CJK JP"/>
                <a:ea typeface="Noto Sans CJK JP"/>
                <a:cs typeface="Noto Sans CJK JP"/>
              </a:rPr>
              <a:t>↓ 粗利の中身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5715000"/>
            <a:ext cx="265176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50" b="1" i="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ここが“残る／残らない”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06 / 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①読む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でも、現金は薄い ―「黒字なのに金が残らない」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85216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91440" cy="36118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108959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72033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まだ入ってきてない売上＝売掛金 40 が寝ている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06908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68045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材料・仕掛り＝棚卸 10 が寝ている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64057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借入 70 の返済が、儲けの中から出ていく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331720"/>
            <a:ext cx="4297680" cy="361188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3172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4612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当期純利益（黒字・百万円）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0332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＋8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02920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なのに、手元の現金は 30 だけ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07 / 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読む｜漏れ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③漏れ：売掛金 40 ―「お金が外で寝ている」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85216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91440" cy="36118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108959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72033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建設は工事完了から入金まで時間がかかる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06908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68045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40も、お金が会社の外で寝ている状態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64057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ここが大きいほど、売上が伸びるほど現金は逆に苦しくなる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331720"/>
            <a:ext cx="4297680" cy="361188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3172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4612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売掛金（百万円）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0332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40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02920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売上は立ったのに、入金はまだ先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08 / 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読む｜漏れ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8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③漏れ：棚卸（未成工事）10 ―「材料・仕掛りに寝る」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85216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91440" cy="36118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108959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72033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材料や、まだ完成してない現場（未成工事）に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06908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68045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お金が“モノ”に化けて眠っている。これも現金じゃない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64057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売掛40＋棚卸10で、50が現金になっていない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331720"/>
            <a:ext cx="4297680" cy="361188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3172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4612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棚卸資産（百万円）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0332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10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02920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進行中の現場に、お金が形を変えて眠る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09 / 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読む｜漏れ 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8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③漏れ：借入の返済 ―「利益に出てこない、消えるお金」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4884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借入は70（短期20＋長期50）。ここが一番の見落としポイント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20954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20954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20954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借りた元本を返すお金は、決算書の利益のところに出てこない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でも毎月ちゃんと出ていく。だから“利益は出てるのに、通帳は減る”。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7024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7024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7024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社長が一番モヤモヤしてるのは、たいていここ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10 / 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読む｜④役員まわり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6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④役員まわり：役員借入金 20 ＝「社長が自腹を入れた跡」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31720"/>
            <a:ext cx="5852160" cy="36118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2331720"/>
            <a:ext cx="91440" cy="36118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280160" y="3108959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91640" y="272033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過去に、会社の金が足りなくて社長が自腹を切った跡</a:t>
            </a:r>
          </a:p>
        </p:txBody>
      </p:sp>
      <p:sp>
        <p:nvSpPr>
          <p:cNvPr id="9" name="Oval 8"/>
          <p:cNvSpPr/>
          <p:nvPr/>
        </p:nvSpPr>
        <p:spPr>
          <a:xfrm>
            <a:off x="1280160" y="406908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91640" y="368045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これが残ってる時点で“普段から資金繰りカツカツ”と読める</a:t>
            </a:r>
          </a:p>
        </p:txBody>
      </p:sp>
      <p:sp>
        <p:nvSpPr>
          <p:cNvPr id="11" name="Oval 10"/>
          <p:cNvSpPr/>
          <p:nvPr/>
        </p:nvSpPr>
        <p:spPr>
          <a:xfrm>
            <a:off x="1280160" y="5029200"/>
            <a:ext cx="182880" cy="182880"/>
          </a:xfrm>
          <a:prstGeom prst="ellipse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4640579"/>
            <a:ext cx="4709160" cy="9601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※銀行の見方では強い意味を持つ（“提案”で話す）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040880" y="2331720"/>
            <a:ext cx="4297680" cy="3611880"/>
          </a:xfrm>
          <a:prstGeom prst="roundRect">
            <a:avLst>
              <a:gd name="adj" fmla="val 5000"/>
            </a:avLst>
          </a:prstGeom>
          <a:solidFill>
            <a:srgbClr val="0F1A33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040880" y="2331720"/>
            <a:ext cx="4297680" cy="128016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69480" y="3246120"/>
            <a:ext cx="384048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35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役員借入金（百万円）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78040" y="3703320"/>
            <a:ext cx="4023360" cy="1234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5029200"/>
            <a:ext cx="384048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50" b="1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社長個人 → 会社へのお金。資金が足りなくて自分で入れた証拠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11 / 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①読む 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5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これが“決算書を読んで分析する”こと（4か所を順に見ただけ）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現金30・粗利70/残り15・借入70・役員借入20の4か所を順に見た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全部読んでない。4か所を順に・数字をこう読んで、漏れを言語化しただけ。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難しい計算は一個もしてない。専門用語も覚えてない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4か所・この順――それだけ。皆さん、もう読めます。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社長は、これを言える人を、ずっと探している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12 / 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②聞く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0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読む → 聞く｜“漏れの仮説”を確かめる質問にする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質問を丸暗記して順番に投げる、のではない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“読む”で立てた仮説（入金が遅い／返済が重い）を、社長に確かめる形で聞く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224528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224528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224528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これがそのまま、初回面談の立ち回りになる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13 / 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質問四選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質問① 入金サイト ― 読んだ“売掛40”から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数字を読んでいるから、刺さる。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063240"/>
            <a:ext cx="10469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063240"/>
            <a:ext cx="82296" cy="13716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063240"/>
            <a:ext cx="9902951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「社長、売上が立っても、入金は何ヶ月先ですか？ その間の支払いは、何で回してはります？」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“売掛40”を読んでいるから、ただの世間話で終わらない。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14 / 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質問四選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9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質問②③ 在庫・返済 ― “棚卸10／借入70”から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48840"/>
            <a:ext cx="10469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48840"/>
            <a:ext cx="82296" cy="1143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61288" y="2482596"/>
            <a:ext cx="475488" cy="475488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46430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11095" y="2148840"/>
            <a:ext cx="915314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「材料とか、進行中の現場に、常にどれくらいお金が寝てる感じですか？」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棚卸10から。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68680" y="3474720"/>
            <a:ext cx="1046988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68680" y="3474720"/>
            <a:ext cx="82296" cy="1143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161288" y="3808476"/>
            <a:ext cx="475488" cy="475488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379018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11095" y="3474720"/>
            <a:ext cx="9153143" cy="1143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6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「毎月の借入返済、利益のうちどれくらい持っていかれてますか？ これ、決算書の利益には出てこないんですよ」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借入70から。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15 / 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質問四選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質問④ 役員借入 ― “役員借入20”から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読んだ数字を、確かめる質問に変えるだけ。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3063240"/>
            <a:ext cx="10469880" cy="1371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3063240"/>
            <a:ext cx="82296" cy="13716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61288" y="3511296"/>
            <a:ext cx="475488" cy="475488"/>
          </a:xfrm>
          <a:prstGeom prst="ellipse">
            <a:avLst/>
          </a:prstGeom>
          <a:solidFill>
            <a:srgbClr val="0F1A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61288" y="3493008"/>
            <a:ext cx="475488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11095" y="3063240"/>
            <a:ext cx="9153143" cy="13716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「この役員借入金、社長がご自身で会社に入れたお金ですよね？ 普段、資金が足りない場面、ありませんか？」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16 / 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2 ・ ②聞く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一つでも「知らんかった」が出たら、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もう勝ちです。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『この人、税理士も言うてくれへんことを言うてくれた』――そこで相談役のポジションが取れる。この四つの型は、着席特典の“質問集”でそのままお渡しします。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2  —  17 / 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③提案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聞いて当たった漏れを“対策の方向”に変換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0312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600" b="0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社長が『たしかにそうや、どうしたら?』となって、初めて“提案”。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288036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68680" y="288036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288036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今日は“方向性”まで ― その場で商品を設計してクロージングはしない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" y="3941063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68680" y="3941063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61288" y="3941063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社長の課題を、“お金が残る方向”に翻訳してあげる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それが相談役の提案。ただの保険販売ではない。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18 / 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③提案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漏れ・課題 → 対策の方向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2011680"/>
          <a:ext cx="10332719" cy="2743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09797"/>
                <a:gridCol w="6922922"/>
              </a:tblGrid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5F2E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漏れ・課題</a:t>
                      </a:r>
                    </a:p>
                  </a:txBody>
                  <a:tcPr anchor="ctr" marL="109728" marR="109728" marT="36576" marB="36576">
                    <a:solidFill>
                      <a:srgbClr val="0F1A3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350" b="1" i="0">
                          <a:solidFill>
                            <a:srgbClr val="F5F2EA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対策の方向</a:t>
                      </a:r>
                    </a:p>
                  </a:txBody>
                  <a:tcPr anchor="ctr" marL="109728" marR="109728" marT="36576" marB="36576">
                    <a:solidFill>
                      <a:srgbClr val="0F1A3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資金繰りの漏れ（売掛・在庫・返済）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“お金の地図”で見える化→運転資金を手当て。万一でも会社の金が回る備え（事業保障の保険）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退職金の準備不足（保険積立金5だけ）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役員退職金の準備（保険）。勇退期に出すと利益も整う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借入返済原資の空白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事業保障保険（借入返済の原資。受取人・必要保障額を設計）</a:t>
                      </a:r>
                    </a:p>
                  </a:txBody>
                  <a:tcPr anchor="ctr" marL="109728" marR="109728" marT="36576" marB="36576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役員借入金20の扱い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1E2438"/>
                          </a:solidFill>
                          <a:latin typeface="Noto Sans CJK JP"/>
                          <a:ea typeface="Noto Sans CJK JP"/>
                          <a:cs typeface="Noto Sans CJK JP"/>
                        </a:rPr>
                        <a:t>保険ではない“格付の一手”（次のスライド）</a:t>
                      </a:r>
                    </a:p>
                  </a:txBody>
                  <a:tcPr anchor="ctr" marL="109728" marR="109728" marT="36576" marB="36576">
                    <a:solidFill>
                      <a:srgbClr val="F6F3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19 / 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③提案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27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“明日効く”非保険レバー ― 保険を売らずに、価値を出す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役員借入金は、銀行の格付で“資本とみなして”見てくれる場合がある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会社の体力が見た目より強く評価される。教えるだけで「銀行のことまで分かってる」に。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63824"/>
            <a:ext cx="1046988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63824"/>
            <a:ext cx="82296" cy="9144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63824"/>
            <a:ext cx="9902951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役員貸付金・仮払金があれば、消すと格付の印象が変わる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会社から社長へ出たまま戻らないお金＝銀行が一番嫌う科目。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※これは一般的な情報提供。実際の判断は御社の数字次第＝税理士・金融機関に確認を、と必ず添える。【要・税理士／金融機関確認】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20 / 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2 ・ ③提案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先に、お金が残る価値を渡す。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保険は、その後から。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順番が大事。価値（お金の残し方）→ 信頼 → 保険は後から、必要なものとして出てくる。売り込みじゃない。これが相談役の提案。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2  —  21 / 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後半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お金を残せる会社にすると、“桁が変わる”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103120"/>
            <a:ext cx="10469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103120"/>
            <a:ext cx="82296" cy="8686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61288" y="2103120"/>
            <a:ext cx="9902951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お金が見える社長とは、次にもっと大きいテーマの話になる</a:t>
            </a:r>
          </a:p>
          <a:p>
            <a:pPr algn="l">
              <a:lnSpc>
                <a:spcPct val="118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退職金・相続・事業承継・自社株。個人保険とは契約の桁がひとつ変わる。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3118103"/>
            <a:ext cx="10469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68680" y="3118103"/>
            <a:ext cx="82296" cy="8686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61288" y="3118103"/>
            <a:ext cx="9902951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ただし、ここから先は本当に難しい。だから今日はさわりだけ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" y="4133087"/>
            <a:ext cx="1046988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68680" y="4133087"/>
            <a:ext cx="82296" cy="86868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61288" y="4133087"/>
            <a:ext cx="9902951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2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深いところは、明日のDay3で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※相続・承継・税務は一般的な情報提供にとどめる。個別は税理士へ、が大原則。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22 / 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2 ・ 今日の到達点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0"/>
            <a:ext cx="10332720" cy="6858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もう、決算書が読める。</a:t>
            </a:r>
          </a:p>
          <a:p>
            <a:pPr algn="l">
              <a:lnSpc>
                <a:spcPct val="112000"/>
              </a:lnSpc>
              <a:spcAft>
                <a:spcPts val="600"/>
              </a:spcAft>
            </a:pPr>
            <a:r>
              <a:rPr sz="4000" b="1" i="0">
                <a:solidFill>
                  <a:srgbClr val="C6A15B"/>
                </a:solidFill>
                <a:latin typeface="Noto Serif CJK JP"/>
                <a:ea typeface="Noto Serif CJK JP"/>
                <a:cs typeface="Noto Serif CJK JP"/>
              </a:rPr>
              <a:t>＝ 法人で食えます。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32688" y="5029200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50" b="0" i="0">
                <a:solidFill>
                  <a:srgbClr val="F5F2EA"/>
                </a:solidFill>
                <a:latin typeface="Noto Sans CJK JP"/>
                <a:ea typeface="Noto Sans CJK JP"/>
                <a:cs typeface="Noto Sans CJK JP"/>
              </a:rPr>
              <a:t>一枚の決算書を、4か所・この順・数字をこう読んで、漏れを分析し、社長に語る質問まで作った。やったのは“4か所を順に見ただけ”。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2  —  23 / 26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3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22960" y="603504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548640"/>
            <a:ext cx="100584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140">
                <a:solidFill>
                  <a:srgbClr val="A8843F"/>
                </a:solidFill>
                <a:latin typeface="Noto Sans CJK JP"/>
                <a:ea typeface="Noto Sans CJK JP"/>
                <a:cs typeface="Noto Sans CJK JP"/>
              </a:rPr>
              <a:t>DAY 2 ・ 特典＆課題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6384" y="960120"/>
            <a:ext cx="10972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Aft>
                <a:spcPts val="400"/>
              </a:spcAft>
            </a:pPr>
            <a:r>
              <a:rPr sz="3100" b="1" i="0">
                <a:solidFill>
                  <a:srgbClr val="1E2438"/>
                </a:solidFill>
                <a:latin typeface="Noto Serif CJK JP"/>
                <a:ea typeface="Noto Serif CJK JP"/>
                <a:cs typeface="Noto Serif CJK JP"/>
              </a:rPr>
              <a:t>着席特典 ＆ 今日の課題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2377440"/>
            <a:ext cx="509777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" y="2377440"/>
            <a:ext cx="5097779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688336"/>
            <a:ext cx="4549140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着席特典＝「決算書の読み方ガイド」＋「質問集」</a:t>
            </a:r>
          </a:p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“4か所をこの順で”を1枚に＋②聞くの質問。20:10入室＋スタンプの方へ、終了後FBグループで配布。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40779" y="2377440"/>
            <a:ext cx="5097779" cy="1920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28000" dir="5400000" rotWithShape="0">
              <a:srgbClr val="1A1A1A">
                <a:alpha val="1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40779" y="2377440"/>
            <a:ext cx="5097779" cy="9144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5099" y="2688336"/>
            <a:ext cx="4549140" cy="1380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500"/>
              </a:spcAft>
            </a:pPr>
            <a:r>
              <a:rPr sz="1700" b="1" i="0">
                <a:solidFill>
                  <a:srgbClr val="1E2438"/>
                </a:solidFill>
                <a:latin typeface="Noto Sans CJK JP"/>
                <a:ea typeface="Noto Sans CJK JP"/>
                <a:cs typeface="Noto Sans CJK JP"/>
              </a:rPr>
              <a:t>今日の課題（FBグループに投稿）</a:t>
            </a:r>
          </a:p>
          <a:p>
            <a:pPr algn="l">
              <a:lnSpc>
                <a:spcPct val="132000"/>
              </a:lnSpc>
            </a:pPr>
            <a:r>
              <a:rPr sz="1300" b="1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①ケースから“お金の漏れ”を1つ→仮説を一つ ②身近な経営者への“相談役”アプローチ案。提出者にフィードバック。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454B5E"/>
                </a:solidFill>
                <a:latin typeface="Noto Sans CJK JP"/>
                <a:ea typeface="Noto Sans CJK JP"/>
                <a:cs typeface="Noto Sans CJK JP"/>
              </a:rPr>
              <a:t>DAY 2  —  24 / 26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DAY 2 ・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Q &amp;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今日の決算書・お金の漏れ・読み方のこと、なんでもどうぞ。チャットでも、口頭でもOK。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2  —  25 / 26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A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2960" y="2148840"/>
            <a:ext cx="146304" cy="146304"/>
          </a:xfrm>
          <a:prstGeom prst="rect">
            <a:avLst/>
          </a:prstGeom>
          <a:solidFill>
            <a:srgbClr val="C6A1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084831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 i="0" spc="25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次回予告 ― DAY 3（7/18 土 20:00）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06040"/>
            <a:ext cx="105156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明日は、初回面談から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 i="0">
                <a:solidFill>
                  <a:srgbClr val="F5F2EA"/>
                </a:solidFill>
                <a:latin typeface="Noto Serif CJK JP"/>
                <a:ea typeface="Noto Serif CJK JP"/>
                <a:cs typeface="Noto Serif CJK JP"/>
              </a:rPr>
              <a:t>“契約”までの流れを、まるごとお見せします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663440"/>
            <a:ext cx="102412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EAD9B0"/>
                </a:solidFill>
                <a:latin typeface="Noto Sans CJK JP"/>
                <a:ea typeface="Noto Sans CJK JP"/>
                <a:cs typeface="Noto Sans CJK JP"/>
              </a:rPr>
              <a:t>社長に初めて会って、どう入って、何を聞いて、保険をどう活用して、最後に契約までどう持っていくか。私が一本通しで実演。終われば「この流れで、自分も会いに行ける」。7/18(土) 20:00。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455664"/>
            <a:ext cx="68580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0" i="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大吉塾｜FP法人会計マスターコース　無料3日間チャレンジ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91295" y="6455664"/>
            <a:ext cx="2377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850" b="0" i="0" spc="60">
                <a:solidFill>
                  <a:srgbClr val="8A93AD"/>
                </a:solidFill>
                <a:latin typeface="Noto Sans CJK JP"/>
                <a:ea typeface="Noto Sans CJK JP"/>
                <a:cs typeface="Noto Sans CJK JP"/>
              </a:rPr>
              <a:t>DAY 2  —  26 / 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Day2 決算書は、こう読む ― 4か所を読んで分析する</dc:title>
  <dc:subject/>
  <dc:creator>大吉塾 / 藤山泰成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