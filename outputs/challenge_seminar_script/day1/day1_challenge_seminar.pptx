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人数（万人）</c:v>
                </c:pt>
              </c:strCache>
            </c:strRef>
          </c:tx>
          <c:spPr>
            <a:solidFill>
              <a:srgbClr val="7FA3C8"/>
            </a:solidFill>
            <a:effectLst/>
          </c:spPr>
          <c:invertIfNegative val="0"/>
          <c:dLbls>
            <c:numFmt formatCode="#,##0.0;▲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E42"/>
                    </a:solidFill>
                    <a:latin typeface="Yu Gothic Medium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3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39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税理士</c:v>
                  </c:pt>
                  <c:pt idx="1">
                    <c:v>生保営業職員</c:v>
                  </c:pt>
                  <c:pt idx="2">
                    <c:v>代理店の募集人</c:v>
                  </c:pt>
                  <c:pt idx="3">
                    <c:v>FP資格（延べ）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24</c:v>
                </c:pt>
                <c:pt idx="2">
                  <c:v>91</c:v>
                </c:pt>
                <c:pt idx="3">
                  <c:v>173</c:v>
                </c:pt>
              </c:numCache>
            </c:numRef>
          </c:val>
        </c:ser>
        <c:dLbls>
          <c:numFmt formatCode="#,##0.0;▲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232E42"/>
                  </a:solidFill>
                  <a:latin typeface="Yu Gothic Medium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A7E"/>
                </a:solidFill>
                <a:latin typeface="Yu Gothic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。台本§1冒頭。感情曲線=【約束】。Day1のスパイン：ゴールは①「会計、自分にもできそう」を持ち帰らせる（口に出すのはこれだけ）②尊敬は行動で獲得（台本に書かない）。行動ゴール=今夜"自分のBS"をFBグループへ投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台本§1。3枚1列の約束形。emphasisなし＝3つは等価な約束（主役を作らない理由）。脱落制度の宣言はここで一度だけ、以降は繰り返さない。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台本§2。感情曲線=【期待】。「今日は技術を教えません（明日からたっぷり）」「保険は結果として後からついてきます」は口頭で（先回り規則：効く行はスライドに書かない）。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台本§3前半。威厳パートだが"雲の上"にしない——共通の出自を先に置く。emphasisなし（経歴は等価な3ステップ、主役は次のS5に譲る）。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3後半。【emphasis=2】主役は「TOTのLPと共同経営」——保険の頂点にいる人が"会計の人間"と組んでいる事実が、この聴衆に一番刺さる（台本「皆さんに一番関係あるのは、これ」）。AC2.5億・TOT連続は台本準拠の実話。【SALIENCY WARN受容】目視確認済（2026-07-09）：主役カードはティント＋accentDeep見出し＋右端（新近効果）＋最長本文で十分に立っている。強調を移すのは本末転倒のため警告を受容。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点①【威厳→転落】。3秒スライド（kickerも数字も置かない）。「すべては人生最大の失敗から始まった」「会計を知らずにすべてを失った人間」は口頭で落とす（先回り規則）。視覚の反転は次の章扉が担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章扉（ダーク）。台本§4へ。感情曲線=【転落へ】。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台本§4。案件名・商品名・内訳金額は出さない（話者ルール）。emphasisなし＝4つは並列の実例。答え（構造を読めていなかった）はS11で明かすため、ここでは強調しない（アンカーを先に置かない）。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点②-a【どん底・1拍目】。型D＝数字が主役、warn=痛みの意味色。台本§4の話者ルール（「トータル約10億円」のみ・内訳非開示）をcaptionで明示。【DARK-RUN意図】S9→S10はどん底の2連ダーク：数字の衝撃→身体感覚、と2拍で底を刻む設計（台本の【一拍、間を取る】に対応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転換点②-b【底→反転の予告】。金額ではなく身体感覚の1シーン（信頼シフト版の差分③）。自虐にせず"転機"として前向きに着地（経営者方針）。ダーク2連の意図はS9のnotes参照。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台本§4。誤解→正解の再フレーム（同じ"数字との向き合い方"を2度見る＝歪めない）。「会計を分かっていれば、根拠を持って"待った"と言えた」は口頭。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台本§4の着地。感情曲線=【気づき】。「自分とお客様を、危ない数字から守る道具」は口頭で補足。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台本§5導入。感情曲線=【共感】。※例＝セミナーで実際によく聞く声の一般化（特定個人の引用ではない・捏造ガード）。コメント欄で実際の声を拾って承認するのは口頭運用。emphasisなし（4つ等価）。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台本§5の3種の表（原文準拠）。dwellスライド（約2分）。tableに強調機構はないため管理会計の主役化は次のS15が受け持つ——ここでは分類の提示に徹する。分類は一般的な整理で数値なし。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5。「利益は出ているのに、なぜお金が残らないのか——社長が夜中に考えていることは、ほぼ全部これ」は口頭（Day2予告の種まき）。用語「管理会計」は使用可（2026-07-06方針・たとえ→用語の順は維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台本§5末。感情曲線=【安心】。ハードルを一気に下げる再フレーム。「その入口を、この3日間でお渡しします」は口頭。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台本§6。ビジョンは1枚に圧縮・静かに（信頼シフト版の差分④）。「数字を読める力があれば、転んでもまた立ち上がれる」「上場研修もこのセミナーも同じ一本の線上」は口頭。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台本§7導入。問いの3秒スライド——次のチャートへの布石。コメントで予想を拾ってもよい。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台本§7。規模比較の正準形＝実寸比例の横棒（text-to-diagram例）。値：税理士82,297人（日本税理士会連合会・令和8年6月末・確定）→約8.2万で表記／生保約24万・募集人約91万・FP延べ173万（docs/research 確度〔高〕）。【emphasizeIndex=3】主役はFP延べ173万＝「担い手候補は皆さん」の証拠。※延べの注記で誠実性を担保（誠実ガード：延べを現役と誤認させない）。【SALIENCY WARN受容】目視確認済（2026-07-09）：横棒は値昇順で最上段＝FP延べが最長・最濃（accentDeep）に描画されており主役が視覚的に最優位。lintのbar indexは表示順と逆のため誤検出と判断。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7。「その席は、ガラ空きなんですよ」は口頭のパンチライン（先回り規則で外す）。顧問の先生=過去と税金／銀行=借入、の整理も口頭。数字は空席=機会の文脈なのでaccent（既定）のまま、warn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点③【警戒→信頼】＝自己利益の正直開示（信頼シフト版の差分⑤・尊敬レバー）。金額は一切言わない（価格提示はDay3のみ・プロジェクト方針）。「判断は、全部見てから皆さんがしてください。そのほうがフェアなので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台本§7末。感情曲線=【機会・前向き】。【emphasis=1】主役は「あなた（FP）よし」——聴衆の意思決定に直結する行。単価の倍率など裏付けのない数字は書かない（創作禁止）。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章扉（ダーク）。台本§8へ。ここから"できそう"を確定させる山場パート。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台本§8。"うっ"となる決算書の代役＝簡略ミニPL（実物の網羅転載はしない）。縦計算：1,000−600＝400−300＝100 ✓（ダミーでも検算必須・house bar §4）。ここで形だけ目に入れておくと、S28の「入って・引かれて・残る」が既知に着地する（既知→未知）。BSはS26で個人版から入る。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台本§8。「個人のお客様の提案で、資産と収支を見ていますよね——それ、会計とまったく同じことです」は口頭で展開。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【canon】BS＝identity（積み上げ恒等式・text-to-diagram例1「持ち物から借金を引いた残りが正味の財産」）。縦計算3,500＝2,500＋1,000 ✓。【emphasis=1】主役は"残り"＝正味の財産——BSの意味の核。現金・家・土地・車・ゴルフ会員権の内訳は口頭（ラベルは短い用語のみ）。座標文法：以後"残り"が常に主役（S28の自由なお金と同じ文法）。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【peak】デッキの山場＝main message「会計、自分にもできそう」が事実に変わる瞬間（"見せて説明"でなく"やらせて実感"・信頼シフト版の差分⑥）。運用：ワーク指示は口頭で先行（5秒待つ・コメント拾う）→このスライドで種明かし。「ね、できたでしょう。皆さんはお客様のBSを毎日頭の中で作っています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【canon】STRAC形＝identity＋sub（text-to-diagram例2）。縦計算：100＝30＋70／70＝50＋20 ✓。【subEmphasis=1】主役は"自由なお金"＝残り（S26と同じ座標文法）。台本§8「額面100→税・社保30→手取り70→生活費→自由なお金」に対応。S24のミニPLがここで意味として回収される。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台本§8の締め。個人（既知）→法人（未知）の橋渡し＝既知→未知の絶対順序。「会社のBSも体力＝正味の財産、PLも売上→コスト→利益」「3日後には社長の悩みが"見えて"きます」は口頭。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台本§9。Day2の引き＝差別化ワード「黒字なのにお金が残らない」。Day3に案内があることはS21で開示済みなので、ここでは道筋の予告に徹する。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締めの1枚目。感情曲線=【高揚へ】。「僕は約10億円の授業料を払って学びました。皆さんは、払わなくていい」は口頭のパンチライン（先回り規則）。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は1つ＝今夜の投稿（Day2参加はcontact行で再確認）。タイトルは締めの第2メッセージ（席はガラ空き）を受ける。「やっていきましょう、一緒に」で口頭締め（台本§9）。ピーク（S27）＋エンド（本枚）がピーク・エンドの2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6761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FA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無料3日間チャレンジ Day1｜2026.7.14（火）20:00–21:00 ZOOM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91440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保険営業から、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社長の"相談役"へ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AEB9C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会計を武器に法人を開く3日間チャレンジ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大吉塾｜大吉会計株式会社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お願いしたいことは、3つだけです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62858" cy="2331720"/>
          </a:xfrm>
          <a:prstGeom prst="roundRect">
            <a:avLst>
              <a:gd name="adj" fmla="val 392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0487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お約束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75234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顔出しで参加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209544"/>
            <a:ext cx="28142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カメラはON。画面越しでも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表情は伝わります。それが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この場の熱量になります。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4418" y="2240280"/>
            <a:ext cx="3362858" cy="2331720"/>
          </a:xfrm>
          <a:prstGeom prst="roundRect">
            <a:avLst>
              <a:gd name="adj" fmla="val 392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8738" y="240487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お約束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8738" y="275234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コメントで参加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8738" y="3209544"/>
            <a:ext cx="28142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正解は要りません。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見ているだけの人は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変わりません——書いた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人から変わります。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43037" y="2240280"/>
            <a:ext cx="3362858" cy="2331720"/>
          </a:xfrm>
          <a:prstGeom prst="roundRect">
            <a:avLst>
              <a:gd name="adj" fmla="val 392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7357" y="240487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お約束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7357" y="275234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ワークを提出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7357" y="3209544"/>
            <a:ext cx="28142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毎日の宿題を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Facebookグループへ投稿。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提出が3日間の"参加証"です。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5376672"/>
            <a:ext cx="10820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守れないときは、退出をお願いすることがあります。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——本気の人だけの場にするためです。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今日、持ち帰ってほしいのは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「会計、自分にもできそう」だけ。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僕も、保険の世界の出身です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決算書の前で固まる感覚も、「ああ、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保険屋さんね」で終わる悔しさも、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分かるつもりです。もともと、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皆さんと同じ世界の人間なので。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三井住友海上に入社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法人向けのリスクマネジメントを担当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保険の世界から、会計の世界へ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 代表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いまは会計の会社を経営しています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いまの僕は、"会計の人間"です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62858" cy="2926080"/>
          </a:xfrm>
          <a:prstGeom prst="roundRect">
            <a:avLst>
              <a:gd name="adj" fmla="val 312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8658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上場企業の会計研修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43784"/>
            <a:ext cx="281421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プライム上場企業の幹部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候補向けに、会計研修を担当。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4418" y="2240280"/>
            <a:ext cx="3362858" cy="2926080"/>
          </a:xfrm>
          <a:prstGeom prst="roundRect">
            <a:avLst>
              <a:gd name="adj" fmla="val 312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8738" y="238658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銀行研修・事業承継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88738" y="2843784"/>
            <a:ext cx="281421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銀行での研修や、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事業承継のご支援も。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43037" y="2240280"/>
            <a:ext cx="3362858" cy="2926080"/>
          </a:xfrm>
          <a:prstGeom prst="roundRect">
            <a:avLst>
              <a:gd name="adj" fmla="val 3125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7357" y="2386584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TOTのLPと共同経営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7357" y="2843784"/>
            <a:ext cx="281421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平均AC2.5億円・TOT連続達成の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ライフプランナーと、一緒に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会社を経営しています。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でも――この経歴は、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順番が、逆なんです。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FA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6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数字から逃げた男の話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7490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EB9C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会計を知らずに、すべてを失うまで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僕がやったこと（※一般化しています）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僕は、何を間違えたのか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27168" cy="1668780"/>
          </a:xfrm>
          <a:prstGeom prst="roundRect">
            <a:avLst>
              <a:gd name="adj" fmla="val 5479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865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実績だけを信じた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43784"/>
            <a:ext cx="467852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見事な数字の"出どころ"を確かめずに、のめり込んだ。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227168" cy="1668780"/>
          </a:xfrm>
          <a:prstGeom prst="roundRect">
            <a:avLst>
              <a:gd name="adj" fmla="val 5479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3865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取り返そうと焦った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48" y="2843784"/>
            <a:ext cx="467852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大きく負けたあと、理解できない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話に次々と手を出した。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83380"/>
            <a:ext cx="5227168" cy="1668780"/>
          </a:xfrm>
          <a:prstGeom prst="roundRect">
            <a:avLst>
              <a:gd name="adj" fmla="val 5479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3296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"分散"の勘違い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4786884"/>
            <a:ext cx="467852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中身の分からないものを増やして、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安心した気になっていた。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4183380"/>
            <a:ext cx="5227168" cy="1668780"/>
          </a:xfrm>
          <a:prstGeom prst="roundRect">
            <a:avLst>
              <a:gd name="adj" fmla="val 5479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3296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過去の前提で広げた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53048" y="4786884"/>
            <a:ext cx="467852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事業でも、過去の数字が続く前提で規模を広げすぎた。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気づいたときには、損害は――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6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約10億円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投資と事業をあわせた損害の合計（概算・実話）。内訳や案件名は、お話ししません。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ある朝、玄関で革靴を履いた瞬間——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200" b="1" spc="-20" kern="0" dirty="0">
                <a:solidFill>
                  <a:srgbClr val="9CC3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足が、動かなくなった。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ここから、僕の"本当の仕事"が始まりました。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1年かけて、たどり着いた答え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"見る"と"読める"は、違いました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やっていたこと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実績や利回りの数字は、毎日"見て"いた。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できていなかったこと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その数字がどういう構造で生まれ、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どこで崩れるのか——中身は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"読めて"いなかった。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だから、いまの僕の原点は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会計は、武器である前に、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"防具"です。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よく聞く4つの声（※例）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"会計"のイメージ、こんな感じでは？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27168" cy="1467612"/>
          </a:xfrm>
          <a:prstGeom prst="roundRect">
            <a:avLst>
              <a:gd name="adj" fmla="val 62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865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難しそう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43784"/>
            <a:ext cx="46785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数字がびっしりで、頭が痛くなる。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227168" cy="1467612"/>
          </a:xfrm>
          <a:prstGeom prst="roundRect">
            <a:avLst>
              <a:gd name="adj" fmla="val 62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386584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税金の計算でしょ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48" y="2843784"/>
            <a:ext cx="46785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要するに、納税のための作業。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982212"/>
            <a:ext cx="5227168" cy="1467612"/>
          </a:xfrm>
          <a:prstGeom prst="roundRect">
            <a:avLst>
              <a:gd name="adj" fmla="val 62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128516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先生に任せるもの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4585716"/>
            <a:ext cx="46785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顧問の先生の領域で、自分の出る幕はない。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3982212"/>
            <a:ext cx="5227168" cy="1467612"/>
          </a:xfrm>
          <a:prstGeom prst="roundRect">
            <a:avLst>
              <a:gd name="adj" fmla="val 62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128516"/>
            <a:ext cx="467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自分には関係ない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53048" y="4585716"/>
            <a:ext cx="46785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営業の仕事に、直接は関係なさそう。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5376672"/>
            <a:ext cx="10820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その気持ち、痛いほど分かります——僕も、ずっと逃げていたので。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会計は、3つに分かれます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会計の種類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だれのため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ひとことで言うと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財務会計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銀行・株主など外部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会社の"過去の成績表"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税務署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税金を正しく計算するため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管理会計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社長自身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"これから"の経営判断のため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376672"/>
            <a:ext cx="10820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皆さんが「難しい・税金」と感じていたのは、上の2つです。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大事なのは、3つめ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管理会計は、社長の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"これから"のための数字です。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誤解しないでください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専門家になる必要は、ありません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よくある誤解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管理会計を学ぶ＝専門家レベルの知識や、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新しい資格が要る。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実際に必要なこと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社長の決算書を、社長と"一緒に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読める"——それだけでいい。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なぜ、僕がこれをやるのか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数字に強く、日本を支える経営者を、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応援する。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ここからが、今日の本題です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経営者の"数字"に関われる人は、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この国に、どれだけいるでしょう？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数字の担い手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"届け手"の数は、桁が違います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単位：万人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2194560"/>
            <a:ext cx="3687775" cy="3520440"/>
          </a:xfrm>
          <a:prstGeom prst="roundRect">
            <a:avLst>
              <a:gd name="adj" fmla="val 2597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02168" y="2560320"/>
            <a:ext cx="29196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担い手は、あなた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02168" y="3456432"/>
            <a:ext cx="29196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税理士は約8.2万人で、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主な領域は"過去と税金"。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FP資格は延べ173万人。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※延べ合格者数で、現役の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人数ではありません。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では、経営者は誰に相談している？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"これから"を一緒に考える相手が、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経営者の隣に、いません。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127万社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後継者が決まっていない会社の数。2024年の休廃業・解散は過去最多、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その半分以上が黒字でした（中小企業庁・東京商工リサーチ）。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FA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ひとつ、先に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正直に言います。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200" b="1" spc="-20" kern="0" dirty="0">
                <a:solidFill>
                  <a:srgbClr val="9CC3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最終日に、有料講座のご案内をします。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でも今日と明日は、それ抜きで、全部お渡しします。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この構図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誰も損をしない、"三方よし"です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誰かが得をして、誰かが損をする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話ではありません。経営者、あなた、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社会——全員が、前に進めます。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経営者よし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"これから"の数字の相談役が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でき、危ない投資から守られる。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16395A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あなた（FP）よし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縮む個人市場から法人へ。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「保険屋さん」ではなく"先生"と呼ばれる側に。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社会よし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数字を読める経営者が増え、無用な失敗が減っていく。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FA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6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会計は、難しくない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7490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EB9C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個人も、法人も、同じ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まず、これを見てください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いま、スラスラ読めなくて大丈夫です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損益計算書（PL）の科目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金額（万円）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売上高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売上原価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▲600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売上総利益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販売費・一般管理費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▲300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営業利益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E42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376672"/>
            <a:ext cx="10820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読めなくて、当たり前です。今日は、このままで構いません。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※数値は説明用のイメージです（縦の計算は合っています）。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ただ、ひとつだけ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皆さんは、もう会計を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"使って"います。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たとえば、あるご家庭（※数値は説明用のイメージ）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引き算ひとつが、貸借対照表（BS）です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53746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2104" y="2683764"/>
            <a:ext cx="479740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持ち物（資産）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3,500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75808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15888" y="2537460"/>
            <a:ext cx="5090008" cy="2076994"/>
          </a:xfrm>
          <a:prstGeom prst="roundRect">
            <a:avLst>
              <a:gd name="adj" fmla="val 4403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2192" y="2683764"/>
            <a:ext cx="4797400" cy="178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借金（負債）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2,500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15888" y="4724182"/>
            <a:ext cx="5090008" cy="830798"/>
          </a:xfrm>
          <a:prstGeom prst="roundRect">
            <a:avLst>
              <a:gd name="adj" fmla="val 11006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2192" y="4870486"/>
            <a:ext cx="4797400" cy="53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正味の財産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1,000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ワーク｜持ち物を3つ、借りたものを1つ、頭に浮かべて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はい。あなたはいま、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貸借対照表（BS）を作りました。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もうひとつ、お金の流れ（額面を100とした場合のイメージ）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入って、引かれて、残る——それがPLです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537460"/>
            <a:ext cx="3350666" cy="3017520"/>
          </a:xfrm>
          <a:prstGeom prst="roundRect">
            <a:avLst>
              <a:gd name="adj" fmla="val 3030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2104" y="2683764"/>
            <a:ext cx="305805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36466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76546" y="2537460"/>
            <a:ext cx="3350666" cy="872338"/>
          </a:xfrm>
          <a:prstGeom prst="roundRect">
            <a:avLst>
              <a:gd name="adj" fmla="val 1048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2850" y="2683764"/>
            <a:ext cx="3058058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税・社保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30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676546" y="3519526"/>
            <a:ext cx="3350666" cy="2035454"/>
          </a:xfrm>
          <a:prstGeom prst="roundRect">
            <a:avLst>
              <a:gd name="adj" fmla="val 44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2850" y="3665830"/>
            <a:ext cx="3058058" cy="174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手取り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70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55229" y="3519526"/>
            <a:ext cx="3350666" cy="1375519"/>
          </a:xfrm>
          <a:prstGeom prst="roundRect">
            <a:avLst>
              <a:gd name="adj" fmla="val 6648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1533" y="3665830"/>
            <a:ext cx="3058058" cy="108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生活費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50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55229" y="5004772"/>
            <a:ext cx="3350666" cy="550208"/>
          </a:xfrm>
          <a:prstGeom prst="roundRect">
            <a:avLst>
              <a:gd name="adj" fmla="val 16619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1533" y="5050492"/>
            <a:ext cx="3058058" cy="4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自由なお金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20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そして、ここが今日いちばん大事なところ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法人も、まったく同じです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724248" cy="3611880"/>
          </a:xfrm>
          <a:prstGeom prst="roundRect">
            <a:avLst>
              <a:gd name="adj" fmla="val 2532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D6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会社の決算書は、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専門家だけの別世界のもの。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639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個人とまったく同じ見方。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2E4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違うのは、"ゼロの数"だけ。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明日からの予告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明日は、いよいよ"実物"です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今日つくったのは、"できそう"という土台です。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明日からは技術をたっぷり渡します。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実物の決算書で、社長の悩みを読む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ところまで——2日間、こう進みます。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Day2｜7/16（木）20:00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黒字なのに、なぜかお金が残らない——その"謎"を、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あなたが解く。決算書を"3分で見る"型をひとつ渡します。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Day3｜7/18（土）20:00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"相談役"になる道筋。初回面談から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D6A7E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ポジションに入るまでを、通しでお見せします。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今日、伝えたかったこと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会計は、特別な人のものじゃない。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232E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皆さんはもう、"使えて"います。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21892"/>
            <a:ext cx="118872" cy="1188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FA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今夜の宿題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"社長の相談役"の席は、</a:t>
            </a:r>
            <a:endParaRPr lang="en-US" sz="3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ガラ空きで待っています。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27000" dist="50800" dir="5400000">
              <a:srgbClr val="232E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1970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宿題｜"自分のBS"を書いて、Facebookグループへ投稿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754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8F0F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持ち物と借りているものを並べて、引き算するだけ。投稿がそのままワーク提出に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8F0F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なります。Day1特典「財務三表 つながり早見図」もグループでお受け取りください。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 Day2｜7/16（木）20:00 同じZoomで ／ ご質問はFacebookグループへ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Day1｜保険営業から、社長の"相談役"へ</dc:title>
  <dc:subject>PptxGenJS Presentation</dc:subject>
  <dc:creator>大吉塾（大吉会計株式会社）</dc:creator>
  <cp:lastModifiedBy>大吉塾（大吉会計株式会社）</cp:lastModifiedBy>
  <cp:revision>1</cp:revision>
  <dcterms:created xsi:type="dcterms:W3CDTF">2026-07-08T23:24:49Z</dcterms:created>
  <dcterms:modified xsi:type="dcterms:W3CDTF">2026-07-08T23:24:49Z</dcterms:modified>
</cp:coreProperties>
</file>